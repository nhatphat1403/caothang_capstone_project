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Pangolin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54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11.png"/><Relationship Id="rId7" Type="http://schemas.openxmlformats.org/officeDocument/2006/relationships/image" Target="../media/image8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eg"/><Relationship Id="rId3" Type="http://schemas.openxmlformats.org/officeDocument/2006/relationships/image" Target="../media/image17.svg"/><Relationship Id="rId7" Type="http://schemas.openxmlformats.org/officeDocument/2006/relationships/image" Target="../media/image26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jpeg"/><Relationship Id="rId11" Type="http://schemas.openxmlformats.org/officeDocument/2006/relationships/image" Target="../media/image30.jpeg"/><Relationship Id="rId5" Type="http://schemas.openxmlformats.org/officeDocument/2006/relationships/image" Target="../media/image11.png"/><Relationship Id="rId10" Type="http://schemas.openxmlformats.org/officeDocument/2006/relationships/image" Target="../media/image29.jpeg"/><Relationship Id="rId4" Type="http://schemas.openxmlformats.org/officeDocument/2006/relationships/image" Target="../media/image24.png"/><Relationship Id="rId9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662" y="-3605"/>
            <a:ext cx="18288000" cy="10203180"/>
          </a:xfrm>
          <a:custGeom>
            <a:avLst/>
            <a:gdLst/>
            <a:ahLst/>
            <a:cxnLst/>
            <a:rect l="l" t="t" r="r" b="b"/>
            <a:pathLst>
              <a:path w="18288000" h="10203180">
                <a:moveTo>
                  <a:pt x="0" y="0"/>
                </a:moveTo>
                <a:lnTo>
                  <a:pt x="18288000" y="0"/>
                </a:lnTo>
                <a:lnTo>
                  <a:pt x="18288000" y="10203180"/>
                </a:lnTo>
                <a:lnTo>
                  <a:pt x="0" y="102031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595288" y="524035"/>
            <a:ext cx="3086100" cy="1679432"/>
            <a:chOff x="0" y="0"/>
            <a:chExt cx="812800" cy="4423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442320"/>
            </a:xfrm>
            <a:custGeom>
              <a:avLst/>
              <a:gdLst/>
              <a:ahLst/>
              <a:cxnLst/>
              <a:rect l="l" t="t" r="r" b="b"/>
              <a:pathLst>
                <a:path w="812800" h="44232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399673"/>
                  </a:lnTo>
                  <a:cubicBezTo>
                    <a:pt x="812800" y="410983"/>
                    <a:pt x="808307" y="421831"/>
                    <a:pt x="800309" y="429829"/>
                  </a:cubicBezTo>
                  <a:cubicBezTo>
                    <a:pt x="792311" y="437826"/>
                    <a:pt x="781464" y="442320"/>
                    <a:pt x="770153" y="442320"/>
                  </a:cubicBezTo>
                  <a:lnTo>
                    <a:pt x="42647" y="442320"/>
                  </a:lnTo>
                  <a:cubicBezTo>
                    <a:pt x="31336" y="442320"/>
                    <a:pt x="20489" y="437826"/>
                    <a:pt x="12491" y="429829"/>
                  </a:cubicBezTo>
                  <a:cubicBezTo>
                    <a:pt x="4493" y="421831"/>
                    <a:pt x="0" y="410983"/>
                    <a:pt x="0" y="399673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4804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617312" y="524035"/>
            <a:ext cx="1053376" cy="1574100"/>
            <a:chOff x="0" y="0"/>
            <a:chExt cx="1404501" cy="2098800"/>
          </a:xfrm>
        </p:grpSpPr>
        <p:grpSp>
          <p:nvGrpSpPr>
            <p:cNvPr id="7" name="Group 7"/>
            <p:cNvGrpSpPr/>
            <p:nvPr/>
          </p:nvGrpSpPr>
          <p:grpSpPr>
            <a:xfrm rot="-5400000">
              <a:off x="320260" y="1014558"/>
              <a:ext cx="763982" cy="1404501"/>
              <a:chOff x="0" y="0"/>
              <a:chExt cx="143628" cy="263847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43628" cy="263372"/>
              </a:xfrm>
              <a:custGeom>
                <a:avLst/>
                <a:gdLst/>
                <a:ahLst/>
                <a:cxnLst/>
                <a:rect l="l" t="t" r="r" b="b"/>
                <a:pathLst>
                  <a:path w="143628" h="263372">
                    <a:moveTo>
                      <a:pt x="107721" y="0"/>
                    </a:moveTo>
                    <a:lnTo>
                      <a:pt x="143628" y="131686"/>
                    </a:lnTo>
                    <a:lnTo>
                      <a:pt x="107721" y="263372"/>
                    </a:lnTo>
                    <a:lnTo>
                      <a:pt x="35907" y="263372"/>
                    </a:lnTo>
                    <a:lnTo>
                      <a:pt x="0" y="131686"/>
                    </a:lnTo>
                    <a:lnTo>
                      <a:pt x="35907" y="0"/>
                    </a:lnTo>
                    <a:close/>
                  </a:path>
                </a:pathLst>
              </a:custGeom>
              <a:solidFill>
                <a:srgbClr val="B8BDCA"/>
              </a:solidFill>
              <a:ln w="28575" cap="sq">
                <a:solidFill>
                  <a:srgbClr val="314964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26283" y="-2805"/>
                <a:ext cx="91062" cy="230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-5400000">
              <a:off x="-107475" y="107475"/>
              <a:ext cx="1619452" cy="1404501"/>
              <a:chOff x="0" y="0"/>
              <a:chExt cx="304532" cy="26379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304532" cy="263791"/>
              </a:xfrm>
              <a:custGeom>
                <a:avLst/>
                <a:gdLst/>
                <a:ahLst/>
                <a:cxnLst/>
                <a:rect l="l" t="t" r="r" b="b"/>
                <a:pathLst>
                  <a:path w="304532" h="263791">
                    <a:moveTo>
                      <a:pt x="304532" y="0"/>
                    </a:moveTo>
                    <a:lnTo>
                      <a:pt x="304532" y="263791"/>
                    </a:lnTo>
                    <a:lnTo>
                      <a:pt x="0" y="2637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314964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304532" cy="30189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34362" y="38405"/>
              <a:ext cx="1335777" cy="2021989"/>
            </a:xfrm>
            <a:custGeom>
              <a:avLst/>
              <a:gdLst/>
              <a:ahLst/>
              <a:cxnLst/>
              <a:rect l="l" t="t" r="r" b="b"/>
              <a:pathLst>
                <a:path w="1335777" h="2021989">
                  <a:moveTo>
                    <a:pt x="0" y="0"/>
                  </a:moveTo>
                  <a:lnTo>
                    <a:pt x="1335777" y="0"/>
                  </a:lnTo>
                  <a:lnTo>
                    <a:pt x="1335777" y="2021990"/>
                  </a:lnTo>
                  <a:lnTo>
                    <a:pt x="0" y="2021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03" r="-1203" b="-157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0393" y="-1083667"/>
            <a:ext cx="18067213" cy="1759830"/>
            <a:chOff x="0" y="0"/>
            <a:chExt cx="4758443" cy="46349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58443" cy="463494"/>
            </a:xfrm>
            <a:custGeom>
              <a:avLst/>
              <a:gdLst/>
              <a:ahLst/>
              <a:cxnLst/>
              <a:rect l="l" t="t" r="r" b="b"/>
              <a:pathLst>
                <a:path w="4758443" h="463494">
                  <a:moveTo>
                    <a:pt x="0" y="0"/>
                  </a:moveTo>
                  <a:lnTo>
                    <a:pt x="4758443" y="0"/>
                  </a:lnTo>
                  <a:lnTo>
                    <a:pt x="4758443" y="463494"/>
                  </a:lnTo>
                  <a:lnTo>
                    <a:pt x="0" y="463494"/>
                  </a:lnTo>
                  <a:close/>
                </a:path>
              </a:pathLst>
            </a:custGeom>
            <a:solidFill>
              <a:srgbClr val="FDFEF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4758443" cy="492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3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800147" y="0"/>
            <a:ext cx="21372202" cy="628540"/>
            <a:chOff x="0" y="0"/>
            <a:chExt cx="5628893" cy="16554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628893" cy="165541"/>
            </a:xfrm>
            <a:custGeom>
              <a:avLst/>
              <a:gdLst/>
              <a:ahLst/>
              <a:cxnLst/>
              <a:rect l="l" t="t" r="r" b="b"/>
              <a:pathLst>
                <a:path w="5628893" h="165541">
                  <a:moveTo>
                    <a:pt x="6158" y="0"/>
                  </a:moveTo>
                  <a:lnTo>
                    <a:pt x="5622735" y="0"/>
                  </a:lnTo>
                  <a:cubicBezTo>
                    <a:pt x="5626136" y="0"/>
                    <a:pt x="5628893" y="2757"/>
                    <a:pt x="5628893" y="6158"/>
                  </a:cubicBezTo>
                  <a:lnTo>
                    <a:pt x="5628893" y="159383"/>
                  </a:lnTo>
                  <a:cubicBezTo>
                    <a:pt x="5628893" y="162784"/>
                    <a:pt x="5626136" y="165541"/>
                    <a:pt x="5622735" y="165541"/>
                  </a:cubicBezTo>
                  <a:lnTo>
                    <a:pt x="6158" y="165541"/>
                  </a:lnTo>
                  <a:cubicBezTo>
                    <a:pt x="2757" y="165541"/>
                    <a:pt x="0" y="162784"/>
                    <a:pt x="0" y="159383"/>
                  </a:cubicBezTo>
                  <a:lnTo>
                    <a:pt x="0" y="6158"/>
                  </a:lnTo>
                  <a:cubicBezTo>
                    <a:pt x="0" y="2757"/>
                    <a:pt x="2757" y="0"/>
                    <a:pt x="6158" y="0"/>
                  </a:cubicBezTo>
                  <a:close/>
                </a:path>
              </a:pathLst>
            </a:custGeom>
            <a:solidFill>
              <a:srgbClr val="FEFEFB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5628893" cy="1941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31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524278" y="89051"/>
            <a:ext cx="504422" cy="539488"/>
          </a:xfrm>
          <a:custGeom>
            <a:avLst/>
            <a:gdLst/>
            <a:ahLst/>
            <a:cxnLst/>
            <a:rect l="l" t="t" r="r" b="b"/>
            <a:pathLst>
              <a:path w="504422" h="539488">
                <a:moveTo>
                  <a:pt x="0" y="0"/>
                </a:moveTo>
                <a:lnTo>
                  <a:pt x="504422" y="0"/>
                </a:lnTo>
                <a:lnTo>
                  <a:pt x="504422" y="539489"/>
                </a:lnTo>
                <a:lnTo>
                  <a:pt x="0" y="5394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226202" y="89861"/>
            <a:ext cx="2698530" cy="48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3"/>
              </a:lnSpc>
              <a:spcBef>
                <a:spcPct val="0"/>
              </a:spcBef>
            </a:pPr>
            <a:r>
              <a:rPr lang="en-US" sz="2824">
                <a:solidFill>
                  <a:srgbClr val="314964"/>
                </a:solidFill>
                <a:latin typeface="Pangolin"/>
                <a:ea typeface="Pangolin"/>
                <a:cs typeface="Pangolin"/>
                <a:sym typeface="Pangolin"/>
              </a:rPr>
              <a:t>Tổng quan đề tài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197149" y="113673"/>
            <a:ext cx="1432779" cy="48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3"/>
              </a:lnSpc>
              <a:spcBef>
                <a:spcPct val="0"/>
              </a:spcBef>
            </a:pPr>
            <a:r>
              <a:rPr lang="en-US" sz="2824">
                <a:solidFill>
                  <a:srgbClr val="314964"/>
                </a:solidFill>
                <a:latin typeface="Pangolin"/>
                <a:ea typeface="Pangolin"/>
                <a:cs typeface="Pangolin"/>
                <a:sym typeface="Pangolin"/>
              </a:rPr>
              <a:t>Page 1/13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5197" y="863692"/>
            <a:ext cx="18177607" cy="9159610"/>
          </a:xfrm>
          <a:custGeom>
            <a:avLst/>
            <a:gdLst/>
            <a:ahLst/>
            <a:cxnLst/>
            <a:rect l="l" t="t" r="r" b="b"/>
            <a:pathLst>
              <a:path w="18177607" h="9159610">
                <a:moveTo>
                  <a:pt x="0" y="0"/>
                </a:moveTo>
                <a:lnTo>
                  <a:pt x="18177606" y="0"/>
                </a:lnTo>
                <a:lnTo>
                  <a:pt x="18177606" y="9159610"/>
                </a:lnTo>
                <a:lnTo>
                  <a:pt x="0" y="91596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550" b="-168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0393" y="-1083667"/>
            <a:ext cx="18067213" cy="1759830"/>
            <a:chOff x="0" y="0"/>
            <a:chExt cx="4758443" cy="46349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58443" cy="463494"/>
            </a:xfrm>
            <a:custGeom>
              <a:avLst/>
              <a:gdLst/>
              <a:ahLst/>
              <a:cxnLst/>
              <a:rect l="l" t="t" r="r" b="b"/>
              <a:pathLst>
                <a:path w="4758443" h="463494">
                  <a:moveTo>
                    <a:pt x="0" y="0"/>
                  </a:moveTo>
                  <a:lnTo>
                    <a:pt x="4758443" y="0"/>
                  </a:lnTo>
                  <a:lnTo>
                    <a:pt x="4758443" y="463494"/>
                  </a:lnTo>
                  <a:lnTo>
                    <a:pt x="0" y="463494"/>
                  </a:lnTo>
                  <a:close/>
                </a:path>
              </a:pathLst>
            </a:custGeom>
            <a:solidFill>
              <a:srgbClr val="FDFEF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4758443" cy="492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3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-1378458"/>
            <a:ext cx="18288000" cy="2214625"/>
            <a:chOff x="0" y="0"/>
            <a:chExt cx="4816593" cy="58327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583276"/>
            </a:xfrm>
            <a:custGeom>
              <a:avLst/>
              <a:gdLst/>
              <a:ahLst/>
              <a:cxnLst/>
              <a:rect l="l" t="t" r="r" b="b"/>
              <a:pathLst>
                <a:path w="4816592" h="583276">
                  <a:moveTo>
                    <a:pt x="7197" y="0"/>
                  </a:moveTo>
                  <a:lnTo>
                    <a:pt x="4809396" y="0"/>
                  </a:lnTo>
                  <a:cubicBezTo>
                    <a:pt x="4811304" y="0"/>
                    <a:pt x="4813135" y="758"/>
                    <a:pt x="4814484" y="2108"/>
                  </a:cubicBezTo>
                  <a:cubicBezTo>
                    <a:pt x="4815834" y="3457"/>
                    <a:pt x="4816592" y="5288"/>
                    <a:pt x="4816592" y="7197"/>
                  </a:cubicBezTo>
                  <a:lnTo>
                    <a:pt x="4816592" y="576079"/>
                  </a:lnTo>
                  <a:cubicBezTo>
                    <a:pt x="4816592" y="580054"/>
                    <a:pt x="4813371" y="583276"/>
                    <a:pt x="4809396" y="583276"/>
                  </a:cubicBezTo>
                  <a:lnTo>
                    <a:pt x="7197" y="583276"/>
                  </a:lnTo>
                  <a:cubicBezTo>
                    <a:pt x="3222" y="583276"/>
                    <a:pt x="0" y="580054"/>
                    <a:pt x="0" y="576079"/>
                  </a:cubicBezTo>
                  <a:lnTo>
                    <a:pt x="0" y="7197"/>
                  </a:lnTo>
                  <a:cubicBezTo>
                    <a:pt x="0" y="3222"/>
                    <a:pt x="3222" y="0"/>
                    <a:pt x="719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4816593" cy="6118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31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524278" y="89051"/>
            <a:ext cx="504422" cy="539488"/>
          </a:xfrm>
          <a:custGeom>
            <a:avLst/>
            <a:gdLst/>
            <a:ahLst/>
            <a:cxnLst/>
            <a:rect l="l" t="t" r="r" b="b"/>
            <a:pathLst>
              <a:path w="504422" h="539488">
                <a:moveTo>
                  <a:pt x="0" y="0"/>
                </a:moveTo>
                <a:lnTo>
                  <a:pt x="504422" y="0"/>
                </a:lnTo>
                <a:lnTo>
                  <a:pt x="504422" y="539489"/>
                </a:lnTo>
                <a:lnTo>
                  <a:pt x="0" y="5394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226202" y="89861"/>
            <a:ext cx="13366105" cy="48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3"/>
              </a:lnSpc>
              <a:spcBef>
                <a:spcPct val="0"/>
              </a:spcBef>
            </a:pPr>
            <a:r>
              <a:rPr lang="en-US" sz="2824">
                <a:solidFill>
                  <a:srgbClr val="314964"/>
                </a:solidFill>
                <a:latin typeface="Pangolin"/>
                <a:ea typeface="Pangolin"/>
                <a:cs typeface="Pangolin"/>
                <a:sym typeface="Pangolin"/>
              </a:rPr>
              <a:t>Hạng mục 1: Xây Dựng và TRiển khai Mô hình Hạ tầng Doanh nghiệp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197149" y="113673"/>
            <a:ext cx="1652981" cy="48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3"/>
              </a:lnSpc>
              <a:spcBef>
                <a:spcPct val="0"/>
              </a:spcBef>
            </a:pPr>
            <a:r>
              <a:rPr lang="en-US" sz="2824">
                <a:solidFill>
                  <a:srgbClr val="314964"/>
                </a:solidFill>
                <a:latin typeface="Pangolin"/>
                <a:ea typeface="Pangolin"/>
                <a:cs typeface="Pangolin"/>
                <a:sym typeface="Pangolin"/>
              </a:rPr>
              <a:t>Page 2/13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8579627" y="7132937"/>
            <a:ext cx="2747053" cy="2125363"/>
            <a:chOff x="0" y="0"/>
            <a:chExt cx="723504" cy="55976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23504" cy="559766"/>
            </a:xfrm>
            <a:custGeom>
              <a:avLst/>
              <a:gdLst/>
              <a:ahLst/>
              <a:cxnLst/>
              <a:rect l="l" t="t" r="r" b="b"/>
              <a:pathLst>
                <a:path w="723504" h="559766">
                  <a:moveTo>
                    <a:pt x="47910" y="0"/>
                  </a:moveTo>
                  <a:lnTo>
                    <a:pt x="675593" y="0"/>
                  </a:lnTo>
                  <a:cubicBezTo>
                    <a:pt x="688300" y="0"/>
                    <a:pt x="700486" y="5048"/>
                    <a:pt x="709471" y="14033"/>
                  </a:cubicBezTo>
                  <a:cubicBezTo>
                    <a:pt x="718456" y="23018"/>
                    <a:pt x="723504" y="35204"/>
                    <a:pt x="723504" y="47910"/>
                  </a:cubicBezTo>
                  <a:lnTo>
                    <a:pt x="723504" y="511856"/>
                  </a:lnTo>
                  <a:cubicBezTo>
                    <a:pt x="723504" y="524563"/>
                    <a:pt x="718456" y="536749"/>
                    <a:pt x="709471" y="545734"/>
                  </a:cubicBezTo>
                  <a:cubicBezTo>
                    <a:pt x="700486" y="554719"/>
                    <a:pt x="688300" y="559766"/>
                    <a:pt x="675593" y="559766"/>
                  </a:cubicBezTo>
                  <a:lnTo>
                    <a:pt x="47910" y="559766"/>
                  </a:lnTo>
                  <a:cubicBezTo>
                    <a:pt x="35204" y="559766"/>
                    <a:pt x="23018" y="554719"/>
                    <a:pt x="14033" y="545734"/>
                  </a:cubicBezTo>
                  <a:cubicBezTo>
                    <a:pt x="5048" y="536749"/>
                    <a:pt x="0" y="524563"/>
                    <a:pt x="0" y="511856"/>
                  </a:cubicBezTo>
                  <a:lnTo>
                    <a:pt x="0" y="47910"/>
                  </a:lnTo>
                  <a:cubicBezTo>
                    <a:pt x="0" y="35204"/>
                    <a:pt x="5048" y="23018"/>
                    <a:pt x="14033" y="14033"/>
                  </a:cubicBezTo>
                  <a:cubicBezTo>
                    <a:pt x="23018" y="5048"/>
                    <a:pt x="35204" y="0"/>
                    <a:pt x="47910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723504" cy="5883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31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0393" y="-1083667"/>
            <a:ext cx="18067213" cy="1759830"/>
            <a:chOff x="0" y="0"/>
            <a:chExt cx="4758443" cy="4634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58443" cy="463494"/>
            </a:xfrm>
            <a:custGeom>
              <a:avLst/>
              <a:gdLst/>
              <a:ahLst/>
              <a:cxnLst/>
              <a:rect l="l" t="t" r="r" b="b"/>
              <a:pathLst>
                <a:path w="4758443" h="463494">
                  <a:moveTo>
                    <a:pt x="0" y="0"/>
                  </a:moveTo>
                  <a:lnTo>
                    <a:pt x="4758443" y="0"/>
                  </a:lnTo>
                  <a:lnTo>
                    <a:pt x="4758443" y="463494"/>
                  </a:lnTo>
                  <a:lnTo>
                    <a:pt x="0" y="463494"/>
                  </a:lnTo>
                  <a:close/>
                </a:path>
              </a:pathLst>
            </a:custGeom>
            <a:solidFill>
              <a:srgbClr val="FDFEF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758443" cy="492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3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1378458"/>
            <a:ext cx="18288000" cy="2270838"/>
            <a:chOff x="0" y="0"/>
            <a:chExt cx="4816593" cy="59808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598081"/>
            </a:xfrm>
            <a:custGeom>
              <a:avLst/>
              <a:gdLst/>
              <a:ahLst/>
              <a:cxnLst/>
              <a:rect l="l" t="t" r="r" b="b"/>
              <a:pathLst>
                <a:path w="4816592" h="598081">
                  <a:moveTo>
                    <a:pt x="7197" y="0"/>
                  </a:moveTo>
                  <a:lnTo>
                    <a:pt x="4809396" y="0"/>
                  </a:lnTo>
                  <a:cubicBezTo>
                    <a:pt x="4811304" y="0"/>
                    <a:pt x="4813135" y="758"/>
                    <a:pt x="4814484" y="2108"/>
                  </a:cubicBezTo>
                  <a:cubicBezTo>
                    <a:pt x="4815834" y="3457"/>
                    <a:pt x="4816592" y="5288"/>
                    <a:pt x="4816592" y="7197"/>
                  </a:cubicBezTo>
                  <a:lnTo>
                    <a:pt x="4816592" y="590884"/>
                  </a:lnTo>
                  <a:cubicBezTo>
                    <a:pt x="4816592" y="594859"/>
                    <a:pt x="4813371" y="598081"/>
                    <a:pt x="4809396" y="598081"/>
                  </a:cubicBezTo>
                  <a:lnTo>
                    <a:pt x="7197" y="598081"/>
                  </a:lnTo>
                  <a:cubicBezTo>
                    <a:pt x="3222" y="598081"/>
                    <a:pt x="0" y="594859"/>
                    <a:pt x="0" y="590884"/>
                  </a:cubicBezTo>
                  <a:lnTo>
                    <a:pt x="0" y="7197"/>
                  </a:lnTo>
                  <a:cubicBezTo>
                    <a:pt x="0" y="3222"/>
                    <a:pt x="3222" y="0"/>
                    <a:pt x="719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4816593" cy="6266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3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524278" y="89051"/>
            <a:ext cx="504422" cy="539488"/>
          </a:xfrm>
          <a:custGeom>
            <a:avLst/>
            <a:gdLst/>
            <a:ahLst/>
            <a:cxnLst/>
            <a:rect l="l" t="t" r="r" b="b"/>
            <a:pathLst>
              <a:path w="504422" h="539488">
                <a:moveTo>
                  <a:pt x="0" y="0"/>
                </a:moveTo>
                <a:lnTo>
                  <a:pt x="504422" y="0"/>
                </a:lnTo>
                <a:lnTo>
                  <a:pt x="504422" y="539489"/>
                </a:lnTo>
                <a:lnTo>
                  <a:pt x="0" y="5394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5197" y="892380"/>
            <a:ext cx="18177607" cy="9394620"/>
          </a:xfrm>
          <a:custGeom>
            <a:avLst/>
            <a:gdLst/>
            <a:ahLst/>
            <a:cxnLst/>
            <a:rect l="l" t="t" r="r" b="b"/>
            <a:pathLst>
              <a:path w="18177607" h="9394620">
                <a:moveTo>
                  <a:pt x="0" y="0"/>
                </a:moveTo>
                <a:lnTo>
                  <a:pt x="18177606" y="0"/>
                </a:lnTo>
                <a:lnTo>
                  <a:pt x="18177606" y="9394620"/>
                </a:lnTo>
                <a:lnTo>
                  <a:pt x="0" y="9394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547" t="-9588" r="-1284" b="-1420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226202" y="89861"/>
            <a:ext cx="13586307" cy="48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3"/>
              </a:lnSpc>
              <a:spcBef>
                <a:spcPct val="0"/>
              </a:spcBef>
            </a:pPr>
            <a:r>
              <a:rPr lang="en-US" sz="2824">
                <a:solidFill>
                  <a:srgbClr val="314964"/>
                </a:solidFill>
                <a:latin typeface="Pangolin"/>
                <a:ea typeface="Pangolin"/>
                <a:cs typeface="Pangolin"/>
                <a:sym typeface="Pangolin"/>
              </a:rPr>
              <a:t>Hạng mục 1: Xây Dựng và TRiển khai Mô hình Hạ tầng Doanh nghiệp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197149" y="113673"/>
            <a:ext cx="1530646" cy="48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3"/>
              </a:lnSpc>
              <a:spcBef>
                <a:spcPct val="0"/>
              </a:spcBef>
            </a:pPr>
            <a:r>
              <a:rPr lang="en-US" sz="2824">
                <a:solidFill>
                  <a:srgbClr val="314964"/>
                </a:solidFill>
                <a:latin typeface="Pangolin"/>
                <a:ea typeface="Pangolin"/>
                <a:cs typeface="Pangolin"/>
                <a:sym typeface="Pangolin"/>
              </a:rPr>
              <a:t>Page 3/13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6159" y="-40961"/>
            <a:ext cx="18560317" cy="10368922"/>
            <a:chOff x="0" y="0"/>
            <a:chExt cx="24747090" cy="138252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747090" cy="13825230"/>
            </a:xfrm>
            <a:custGeom>
              <a:avLst/>
              <a:gdLst/>
              <a:ahLst/>
              <a:cxnLst/>
              <a:rect l="l" t="t" r="r" b="b"/>
              <a:pathLst>
                <a:path w="24747090" h="13825230">
                  <a:moveTo>
                    <a:pt x="0" y="0"/>
                  </a:moveTo>
                  <a:lnTo>
                    <a:pt x="24747090" y="0"/>
                  </a:lnTo>
                  <a:lnTo>
                    <a:pt x="24747090" y="13825230"/>
                  </a:lnTo>
                  <a:lnTo>
                    <a:pt x="0" y="138252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14" r="-1214"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1603281" y="3630963"/>
              <a:ext cx="21540529" cy="7079711"/>
              <a:chOff x="0" y="0"/>
              <a:chExt cx="4445586" cy="1461128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445586" cy="1461128"/>
              </a:xfrm>
              <a:custGeom>
                <a:avLst/>
                <a:gdLst/>
                <a:ahLst/>
                <a:cxnLst/>
                <a:rect l="l" t="t" r="r" b="b"/>
                <a:pathLst>
                  <a:path w="4445586" h="1461128">
                    <a:moveTo>
                      <a:pt x="5674" y="0"/>
                    </a:moveTo>
                    <a:lnTo>
                      <a:pt x="4439912" y="0"/>
                    </a:lnTo>
                    <a:cubicBezTo>
                      <a:pt x="4441417" y="0"/>
                      <a:pt x="4442860" y="598"/>
                      <a:pt x="4443924" y="1662"/>
                    </a:cubicBezTo>
                    <a:cubicBezTo>
                      <a:pt x="4444988" y="2726"/>
                      <a:pt x="4445586" y="4169"/>
                      <a:pt x="4445586" y="5674"/>
                    </a:cubicBezTo>
                    <a:lnTo>
                      <a:pt x="4445586" y="1455454"/>
                    </a:lnTo>
                    <a:cubicBezTo>
                      <a:pt x="4445586" y="1456959"/>
                      <a:pt x="4444988" y="1458402"/>
                      <a:pt x="4443924" y="1459466"/>
                    </a:cubicBezTo>
                    <a:cubicBezTo>
                      <a:pt x="4442860" y="1460530"/>
                      <a:pt x="4441417" y="1461128"/>
                      <a:pt x="4439912" y="1461128"/>
                    </a:cubicBezTo>
                    <a:lnTo>
                      <a:pt x="5674" y="1461128"/>
                    </a:lnTo>
                    <a:cubicBezTo>
                      <a:pt x="4169" y="1461128"/>
                      <a:pt x="2726" y="1460530"/>
                      <a:pt x="1662" y="1459466"/>
                    </a:cubicBezTo>
                    <a:cubicBezTo>
                      <a:pt x="598" y="1458402"/>
                      <a:pt x="0" y="1456959"/>
                      <a:pt x="0" y="1455454"/>
                    </a:cubicBezTo>
                    <a:lnTo>
                      <a:pt x="0" y="5674"/>
                    </a:lnTo>
                    <a:cubicBezTo>
                      <a:pt x="0" y="4169"/>
                      <a:pt x="598" y="2726"/>
                      <a:pt x="1662" y="1662"/>
                    </a:cubicBezTo>
                    <a:cubicBezTo>
                      <a:pt x="2726" y="598"/>
                      <a:pt x="4169" y="0"/>
                      <a:pt x="567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28575"/>
                <a:ext cx="4445586" cy="1489703"/>
              </a:xfrm>
              <a:prstGeom prst="rect">
                <a:avLst/>
              </a:prstGeom>
            </p:spPr>
            <p:txBody>
              <a:bodyPr lIns="74030" tIns="74030" rIns="74030" bIns="74030" rtlCol="0" anchor="ctr"/>
              <a:lstStyle/>
              <a:p>
                <a:pPr algn="ctr">
                  <a:lnSpc>
                    <a:spcPts val="2531"/>
                  </a:lnSpc>
                </a:pPr>
                <a:endParaRPr/>
              </a:p>
            </p:txBody>
          </p:sp>
        </p:grpSp>
        <p:sp>
          <p:nvSpPr>
            <p:cNvPr id="7" name="Freeform 7"/>
            <p:cNvSpPr/>
            <p:nvPr/>
          </p:nvSpPr>
          <p:spPr>
            <a:xfrm>
              <a:off x="2200506" y="4587623"/>
              <a:ext cx="9744376" cy="5005309"/>
            </a:xfrm>
            <a:custGeom>
              <a:avLst/>
              <a:gdLst/>
              <a:ahLst/>
              <a:cxnLst/>
              <a:rect l="l" t="t" r="r" b="b"/>
              <a:pathLst>
                <a:path w="9744376" h="5005309">
                  <a:moveTo>
                    <a:pt x="0" y="0"/>
                  </a:moveTo>
                  <a:lnTo>
                    <a:pt x="9744376" y="0"/>
                  </a:lnTo>
                  <a:lnTo>
                    <a:pt x="9744376" y="5005308"/>
                  </a:lnTo>
                  <a:lnTo>
                    <a:pt x="0" y="5005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236" t="-10060" r="-6236" b="-9366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433207" y="4855512"/>
              <a:ext cx="9278975" cy="4469531"/>
            </a:xfrm>
            <a:prstGeom prst="flowChartAlternateProcess">
              <a:avLst/>
            </a:prstGeom>
            <a:blipFill>
              <a:blip r:embed="rId4"/>
              <a:stretch>
                <a:fillRect t="-48689" r="-7184" b="-18200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rot="-5400000">
              <a:off x="10437291" y="5870810"/>
              <a:ext cx="6563937" cy="2830513"/>
            </a:xfrm>
            <a:custGeom>
              <a:avLst/>
              <a:gdLst/>
              <a:ahLst/>
              <a:cxnLst/>
              <a:rect l="l" t="t" r="r" b="b"/>
              <a:pathLst>
                <a:path w="6563937" h="2830513">
                  <a:moveTo>
                    <a:pt x="0" y="0"/>
                  </a:moveTo>
                  <a:lnTo>
                    <a:pt x="6563937" y="0"/>
                  </a:lnTo>
                  <a:lnTo>
                    <a:pt x="6563937" y="2830513"/>
                  </a:lnTo>
                  <a:lnTo>
                    <a:pt x="0" y="28305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794" t="-12687" r="-4680" b="-27042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rot="-5400000">
              <a:off x="12558605" y="5830544"/>
              <a:ext cx="6563937" cy="2911045"/>
            </a:xfrm>
            <a:custGeom>
              <a:avLst/>
              <a:gdLst/>
              <a:ahLst/>
              <a:cxnLst/>
              <a:rect l="l" t="t" r="r" b="b"/>
              <a:pathLst>
                <a:path w="6563937" h="2911045">
                  <a:moveTo>
                    <a:pt x="0" y="0"/>
                  </a:moveTo>
                  <a:lnTo>
                    <a:pt x="6563937" y="0"/>
                  </a:lnTo>
                  <a:lnTo>
                    <a:pt x="6563937" y="2911045"/>
                  </a:lnTo>
                  <a:lnTo>
                    <a:pt x="0" y="29110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794" t="-25584" r="-4680" b="-10280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12514128" y="4300006"/>
              <a:ext cx="4533947" cy="6045263"/>
            </a:xfrm>
            <a:prstGeom prst="flowChartAlternateProcess">
              <a:avLst/>
            </a:pr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10393" y="-1083667"/>
            <a:ext cx="18067213" cy="1759830"/>
            <a:chOff x="0" y="0"/>
            <a:chExt cx="4758443" cy="46349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758443" cy="463494"/>
            </a:xfrm>
            <a:custGeom>
              <a:avLst/>
              <a:gdLst/>
              <a:ahLst/>
              <a:cxnLst/>
              <a:rect l="l" t="t" r="r" b="b"/>
              <a:pathLst>
                <a:path w="4758443" h="463494">
                  <a:moveTo>
                    <a:pt x="0" y="0"/>
                  </a:moveTo>
                  <a:lnTo>
                    <a:pt x="4758443" y="0"/>
                  </a:lnTo>
                  <a:lnTo>
                    <a:pt x="4758443" y="463494"/>
                  </a:lnTo>
                  <a:lnTo>
                    <a:pt x="0" y="463494"/>
                  </a:lnTo>
                  <a:close/>
                </a:path>
              </a:pathLst>
            </a:custGeom>
            <a:solidFill>
              <a:srgbClr val="FDFEFD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4758443" cy="492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31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0" y="-1378458"/>
            <a:ext cx="18288000" cy="2270838"/>
            <a:chOff x="0" y="0"/>
            <a:chExt cx="4816593" cy="59808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16592" cy="598081"/>
            </a:xfrm>
            <a:custGeom>
              <a:avLst/>
              <a:gdLst/>
              <a:ahLst/>
              <a:cxnLst/>
              <a:rect l="l" t="t" r="r" b="b"/>
              <a:pathLst>
                <a:path w="4816592" h="598081">
                  <a:moveTo>
                    <a:pt x="7197" y="0"/>
                  </a:moveTo>
                  <a:lnTo>
                    <a:pt x="4809396" y="0"/>
                  </a:lnTo>
                  <a:cubicBezTo>
                    <a:pt x="4811304" y="0"/>
                    <a:pt x="4813135" y="758"/>
                    <a:pt x="4814484" y="2108"/>
                  </a:cubicBezTo>
                  <a:cubicBezTo>
                    <a:pt x="4815834" y="3457"/>
                    <a:pt x="4816592" y="5288"/>
                    <a:pt x="4816592" y="7197"/>
                  </a:cubicBezTo>
                  <a:lnTo>
                    <a:pt x="4816592" y="590884"/>
                  </a:lnTo>
                  <a:cubicBezTo>
                    <a:pt x="4816592" y="594859"/>
                    <a:pt x="4813371" y="598081"/>
                    <a:pt x="4809396" y="598081"/>
                  </a:cubicBezTo>
                  <a:lnTo>
                    <a:pt x="7197" y="598081"/>
                  </a:lnTo>
                  <a:cubicBezTo>
                    <a:pt x="3222" y="598081"/>
                    <a:pt x="0" y="594859"/>
                    <a:pt x="0" y="590884"/>
                  </a:cubicBezTo>
                  <a:lnTo>
                    <a:pt x="0" y="7197"/>
                  </a:lnTo>
                  <a:cubicBezTo>
                    <a:pt x="0" y="3222"/>
                    <a:pt x="3222" y="0"/>
                    <a:pt x="719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4816593" cy="6266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31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524278" y="89051"/>
            <a:ext cx="504422" cy="539488"/>
          </a:xfrm>
          <a:custGeom>
            <a:avLst/>
            <a:gdLst/>
            <a:ahLst/>
            <a:cxnLst/>
            <a:rect l="l" t="t" r="r" b="b"/>
            <a:pathLst>
              <a:path w="504422" h="539488">
                <a:moveTo>
                  <a:pt x="0" y="0"/>
                </a:moveTo>
                <a:lnTo>
                  <a:pt x="504422" y="0"/>
                </a:lnTo>
                <a:lnTo>
                  <a:pt x="504422" y="539489"/>
                </a:lnTo>
                <a:lnTo>
                  <a:pt x="0" y="5394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226202" y="89861"/>
            <a:ext cx="11310884" cy="48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3"/>
              </a:lnSpc>
              <a:spcBef>
                <a:spcPct val="0"/>
              </a:spcBef>
            </a:pPr>
            <a:r>
              <a:rPr lang="en-US" sz="2824">
                <a:solidFill>
                  <a:srgbClr val="314964"/>
                </a:solidFill>
                <a:latin typeface="Pangolin"/>
                <a:ea typeface="Pangolin"/>
                <a:cs typeface="Pangolin"/>
                <a:sym typeface="Pangolin"/>
              </a:rPr>
              <a:t>Hạng mục 1: Xây Dựng và TRiển khai Mô hình Hạ tầng Doanh nghiệp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197149" y="113673"/>
            <a:ext cx="1484681" cy="48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3"/>
              </a:lnSpc>
              <a:spcBef>
                <a:spcPct val="0"/>
              </a:spcBef>
            </a:pPr>
            <a:r>
              <a:rPr lang="en-US" sz="2824">
                <a:solidFill>
                  <a:srgbClr val="314964"/>
                </a:solidFill>
                <a:latin typeface="Pangolin"/>
                <a:ea typeface="Pangolin"/>
                <a:cs typeface="Pangolin"/>
                <a:sym typeface="Pangolin"/>
              </a:rPr>
              <a:t>Page 4/13</a:t>
            </a:r>
          </a:p>
        </p:txBody>
      </p:sp>
      <p:sp>
        <p:nvSpPr>
          <p:cNvPr id="21" name="Freeform 21"/>
          <p:cNvSpPr/>
          <p:nvPr/>
        </p:nvSpPr>
        <p:spPr>
          <a:xfrm rot="-5400000">
            <a:off x="11913095" y="4413280"/>
            <a:ext cx="4561348" cy="2070011"/>
          </a:xfrm>
          <a:custGeom>
            <a:avLst/>
            <a:gdLst/>
            <a:ahLst/>
            <a:cxnLst/>
            <a:rect l="l" t="t" r="r" b="b"/>
            <a:pathLst>
              <a:path w="4561348" h="2070011">
                <a:moveTo>
                  <a:pt x="0" y="0"/>
                </a:moveTo>
                <a:lnTo>
                  <a:pt x="4561347" y="0"/>
                </a:lnTo>
                <a:lnTo>
                  <a:pt x="4561347" y="2070011"/>
                </a:lnTo>
                <a:lnTo>
                  <a:pt x="0" y="20700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002" t="-10657" r="-7165" b="-26555"/>
            </a:stretch>
          </a:blipFill>
        </p:spPr>
      </p:sp>
      <p:sp>
        <p:nvSpPr>
          <p:cNvPr id="22" name="Freeform 22"/>
          <p:cNvSpPr/>
          <p:nvPr/>
        </p:nvSpPr>
        <p:spPr>
          <a:xfrm rot="-5400000">
            <a:off x="13441800" y="4416360"/>
            <a:ext cx="4561348" cy="2063851"/>
          </a:xfrm>
          <a:custGeom>
            <a:avLst/>
            <a:gdLst/>
            <a:ahLst/>
            <a:cxnLst/>
            <a:rect l="l" t="t" r="r" b="b"/>
            <a:pathLst>
              <a:path w="4561348" h="2063851">
                <a:moveTo>
                  <a:pt x="0" y="0"/>
                </a:moveTo>
                <a:lnTo>
                  <a:pt x="4561347" y="0"/>
                </a:lnTo>
                <a:lnTo>
                  <a:pt x="4561347" y="2063851"/>
                </a:lnTo>
                <a:lnTo>
                  <a:pt x="0" y="20638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002" t="-25915" r="-7165" b="-11707"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3367355" y="3340114"/>
            <a:ext cx="3162257" cy="4216342"/>
          </a:xfrm>
          <a:prstGeom prst="flowChartAlternateProcess">
            <a:avLst/>
          </a:pr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0638" y="732460"/>
            <a:ext cx="17946723" cy="9556981"/>
          </a:xfrm>
          <a:custGeom>
            <a:avLst/>
            <a:gdLst/>
            <a:ahLst/>
            <a:cxnLst/>
            <a:rect l="l" t="t" r="r" b="b"/>
            <a:pathLst>
              <a:path w="17946723" h="9556981">
                <a:moveTo>
                  <a:pt x="0" y="0"/>
                </a:moveTo>
                <a:lnTo>
                  <a:pt x="17946724" y="0"/>
                </a:lnTo>
                <a:lnTo>
                  <a:pt x="17946724" y="9556981"/>
                </a:lnTo>
                <a:lnTo>
                  <a:pt x="0" y="95569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69" t="-6920" r="-1969" b="-197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0393" y="-1083667"/>
            <a:ext cx="18067213" cy="1759830"/>
            <a:chOff x="0" y="0"/>
            <a:chExt cx="4758443" cy="46349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58443" cy="463494"/>
            </a:xfrm>
            <a:custGeom>
              <a:avLst/>
              <a:gdLst/>
              <a:ahLst/>
              <a:cxnLst/>
              <a:rect l="l" t="t" r="r" b="b"/>
              <a:pathLst>
                <a:path w="4758443" h="463494">
                  <a:moveTo>
                    <a:pt x="0" y="0"/>
                  </a:moveTo>
                  <a:lnTo>
                    <a:pt x="4758443" y="0"/>
                  </a:lnTo>
                  <a:lnTo>
                    <a:pt x="4758443" y="463494"/>
                  </a:lnTo>
                  <a:lnTo>
                    <a:pt x="0" y="463494"/>
                  </a:lnTo>
                  <a:close/>
                </a:path>
              </a:pathLst>
            </a:custGeom>
            <a:solidFill>
              <a:srgbClr val="FDFEF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4758443" cy="492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3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-1378458"/>
            <a:ext cx="18288000" cy="2110918"/>
            <a:chOff x="0" y="0"/>
            <a:chExt cx="4816593" cy="55596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555962"/>
            </a:xfrm>
            <a:custGeom>
              <a:avLst/>
              <a:gdLst/>
              <a:ahLst/>
              <a:cxnLst/>
              <a:rect l="l" t="t" r="r" b="b"/>
              <a:pathLst>
                <a:path w="4816592" h="555962">
                  <a:moveTo>
                    <a:pt x="7197" y="0"/>
                  </a:moveTo>
                  <a:lnTo>
                    <a:pt x="4809396" y="0"/>
                  </a:lnTo>
                  <a:cubicBezTo>
                    <a:pt x="4811304" y="0"/>
                    <a:pt x="4813135" y="758"/>
                    <a:pt x="4814484" y="2108"/>
                  </a:cubicBezTo>
                  <a:cubicBezTo>
                    <a:pt x="4815834" y="3457"/>
                    <a:pt x="4816592" y="5288"/>
                    <a:pt x="4816592" y="7197"/>
                  </a:cubicBezTo>
                  <a:lnTo>
                    <a:pt x="4816592" y="548765"/>
                  </a:lnTo>
                  <a:cubicBezTo>
                    <a:pt x="4816592" y="552740"/>
                    <a:pt x="4813371" y="555962"/>
                    <a:pt x="4809396" y="555962"/>
                  </a:cubicBezTo>
                  <a:lnTo>
                    <a:pt x="7197" y="555962"/>
                  </a:lnTo>
                  <a:cubicBezTo>
                    <a:pt x="3222" y="555962"/>
                    <a:pt x="0" y="552740"/>
                    <a:pt x="0" y="548765"/>
                  </a:cubicBezTo>
                  <a:lnTo>
                    <a:pt x="0" y="7197"/>
                  </a:lnTo>
                  <a:cubicBezTo>
                    <a:pt x="0" y="3222"/>
                    <a:pt x="3222" y="0"/>
                    <a:pt x="719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4816593" cy="5845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31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524278" y="89051"/>
            <a:ext cx="504422" cy="539488"/>
          </a:xfrm>
          <a:custGeom>
            <a:avLst/>
            <a:gdLst/>
            <a:ahLst/>
            <a:cxnLst/>
            <a:rect l="l" t="t" r="r" b="b"/>
            <a:pathLst>
              <a:path w="504422" h="539488">
                <a:moveTo>
                  <a:pt x="0" y="0"/>
                </a:moveTo>
                <a:lnTo>
                  <a:pt x="504422" y="0"/>
                </a:lnTo>
                <a:lnTo>
                  <a:pt x="504422" y="539489"/>
                </a:lnTo>
                <a:lnTo>
                  <a:pt x="0" y="5394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226202" y="89861"/>
            <a:ext cx="10576877" cy="48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3"/>
              </a:lnSpc>
              <a:spcBef>
                <a:spcPct val="0"/>
              </a:spcBef>
            </a:pPr>
            <a:r>
              <a:rPr lang="en-US" sz="2824">
                <a:solidFill>
                  <a:srgbClr val="314964"/>
                </a:solidFill>
                <a:latin typeface="Pangolin"/>
                <a:ea typeface="Pangolin"/>
                <a:cs typeface="Pangolin"/>
                <a:sym typeface="Pangolin"/>
              </a:rPr>
              <a:t>Hạng mục 2: Xây dựng và triển khai Hệ thống Quản trị trên Máy chủ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197149" y="113673"/>
            <a:ext cx="1519282" cy="48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3"/>
              </a:lnSpc>
              <a:spcBef>
                <a:spcPct val="0"/>
              </a:spcBef>
            </a:pPr>
            <a:r>
              <a:rPr lang="en-US" sz="2824">
                <a:solidFill>
                  <a:srgbClr val="314964"/>
                </a:solidFill>
                <a:latin typeface="Pangolin"/>
                <a:ea typeface="Pangolin"/>
                <a:cs typeface="Pangolin"/>
                <a:sym typeface="Pangolin"/>
              </a:rPr>
              <a:t>Page 5/13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7429682" y="7980028"/>
            <a:ext cx="8346487" cy="1618085"/>
            <a:chOff x="0" y="0"/>
            <a:chExt cx="2198252" cy="42616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98252" cy="426162"/>
            </a:xfrm>
            <a:custGeom>
              <a:avLst/>
              <a:gdLst/>
              <a:ahLst/>
              <a:cxnLst/>
              <a:rect l="l" t="t" r="r" b="b"/>
              <a:pathLst>
                <a:path w="2198252" h="426162">
                  <a:moveTo>
                    <a:pt x="15769" y="0"/>
                  </a:moveTo>
                  <a:lnTo>
                    <a:pt x="2182483" y="0"/>
                  </a:lnTo>
                  <a:cubicBezTo>
                    <a:pt x="2191192" y="0"/>
                    <a:pt x="2198252" y="7060"/>
                    <a:pt x="2198252" y="15769"/>
                  </a:cubicBezTo>
                  <a:lnTo>
                    <a:pt x="2198252" y="410394"/>
                  </a:lnTo>
                  <a:cubicBezTo>
                    <a:pt x="2198252" y="419102"/>
                    <a:pt x="2191192" y="426162"/>
                    <a:pt x="2182483" y="426162"/>
                  </a:cubicBezTo>
                  <a:lnTo>
                    <a:pt x="15769" y="426162"/>
                  </a:lnTo>
                  <a:cubicBezTo>
                    <a:pt x="11587" y="426162"/>
                    <a:pt x="7576" y="424501"/>
                    <a:pt x="4619" y="421544"/>
                  </a:cubicBezTo>
                  <a:cubicBezTo>
                    <a:pt x="1661" y="418587"/>
                    <a:pt x="0" y="414576"/>
                    <a:pt x="0" y="410394"/>
                  </a:cubicBezTo>
                  <a:lnTo>
                    <a:pt x="0" y="15769"/>
                  </a:lnTo>
                  <a:cubicBezTo>
                    <a:pt x="0" y="7060"/>
                    <a:pt x="7060" y="0"/>
                    <a:pt x="1576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2198252" cy="4547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31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0393" y="-1083667"/>
            <a:ext cx="18067213" cy="1759830"/>
            <a:chOff x="0" y="0"/>
            <a:chExt cx="4758443" cy="4634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58443" cy="463494"/>
            </a:xfrm>
            <a:custGeom>
              <a:avLst/>
              <a:gdLst/>
              <a:ahLst/>
              <a:cxnLst/>
              <a:rect l="l" t="t" r="r" b="b"/>
              <a:pathLst>
                <a:path w="4758443" h="463494">
                  <a:moveTo>
                    <a:pt x="0" y="0"/>
                  </a:moveTo>
                  <a:lnTo>
                    <a:pt x="4758443" y="0"/>
                  </a:lnTo>
                  <a:lnTo>
                    <a:pt x="4758443" y="463494"/>
                  </a:lnTo>
                  <a:lnTo>
                    <a:pt x="0" y="463494"/>
                  </a:lnTo>
                  <a:close/>
                </a:path>
              </a:pathLst>
            </a:custGeom>
            <a:solidFill>
              <a:srgbClr val="FDFEF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758443" cy="492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3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1378458"/>
            <a:ext cx="18288000" cy="1972849"/>
            <a:chOff x="0" y="0"/>
            <a:chExt cx="4816593" cy="51959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519598"/>
            </a:xfrm>
            <a:custGeom>
              <a:avLst/>
              <a:gdLst/>
              <a:ahLst/>
              <a:cxnLst/>
              <a:rect l="l" t="t" r="r" b="b"/>
              <a:pathLst>
                <a:path w="4816592" h="519598">
                  <a:moveTo>
                    <a:pt x="7197" y="0"/>
                  </a:moveTo>
                  <a:lnTo>
                    <a:pt x="4809396" y="0"/>
                  </a:lnTo>
                  <a:cubicBezTo>
                    <a:pt x="4811304" y="0"/>
                    <a:pt x="4813135" y="758"/>
                    <a:pt x="4814484" y="2108"/>
                  </a:cubicBezTo>
                  <a:cubicBezTo>
                    <a:pt x="4815834" y="3457"/>
                    <a:pt x="4816592" y="5288"/>
                    <a:pt x="4816592" y="7197"/>
                  </a:cubicBezTo>
                  <a:lnTo>
                    <a:pt x="4816592" y="512402"/>
                  </a:lnTo>
                  <a:cubicBezTo>
                    <a:pt x="4816592" y="516376"/>
                    <a:pt x="4813371" y="519598"/>
                    <a:pt x="4809396" y="519598"/>
                  </a:cubicBezTo>
                  <a:lnTo>
                    <a:pt x="7197" y="519598"/>
                  </a:lnTo>
                  <a:cubicBezTo>
                    <a:pt x="3222" y="519598"/>
                    <a:pt x="0" y="516376"/>
                    <a:pt x="0" y="512402"/>
                  </a:cubicBezTo>
                  <a:lnTo>
                    <a:pt x="0" y="7197"/>
                  </a:lnTo>
                  <a:cubicBezTo>
                    <a:pt x="0" y="3222"/>
                    <a:pt x="3222" y="0"/>
                    <a:pt x="719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4816593" cy="5481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3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524278" y="89051"/>
            <a:ext cx="504422" cy="539488"/>
          </a:xfrm>
          <a:custGeom>
            <a:avLst/>
            <a:gdLst/>
            <a:ahLst/>
            <a:cxnLst/>
            <a:rect l="l" t="t" r="r" b="b"/>
            <a:pathLst>
              <a:path w="504422" h="539488">
                <a:moveTo>
                  <a:pt x="0" y="0"/>
                </a:moveTo>
                <a:lnTo>
                  <a:pt x="504422" y="0"/>
                </a:lnTo>
                <a:lnTo>
                  <a:pt x="504422" y="539489"/>
                </a:lnTo>
                <a:lnTo>
                  <a:pt x="0" y="5394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226202" y="89861"/>
            <a:ext cx="10894947" cy="48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3"/>
              </a:lnSpc>
              <a:spcBef>
                <a:spcPct val="0"/>
              </a:spcBef>
            </a:pPr>
            <a:r>
              <a:rPr lang="en-US" sz="2824">
                <a:solidFill>
                  <a:srgbClr val="314964"/>
                </a:solidFill>
                <a:latin typeface="Pangolin"/>
                <a:ea typeface="Pangolin"/>
                <a:cs typeface="Pangolin"/>
                <a:sym typeface="Pangolin"/>
              </a:rPr>
              <a:t>Hạng mục 2: Xây dựng và triển khai Hệ thống Quản trị trên Máy chủ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197149" y="113673"/>
            <a:ext cx="1605785" cy="48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3"/>
              </a:lnSpc>
              <a:spcBef>
                <a:spcPct val="0"/>
              </a:spcBef>
            </a:pPr>
            <a:r>
              <a:rPr lang="en-US" sz="2824">
                <a:solidFill>
                  <a:srgbClr val="314964"/>
                </a:solidFill>
                <a:latin typeface="Pangolin"/>
                <a:ea typeface="Pangolin"/>
                <a:cs typeface="Pangolin"/>
                <a:sym typeface="Pangolin"/>
              </a:rPr>
              <a:t>Page 6/13</a:t>
            </a:r>
          </a:p>
        </p:txBody>
      </p:sp>
      <p:sp>
        <p:nvSpPr>
          <p:cNvPr id="11" name="Freeform 11"/>
          <p:cNvSpPr/>
          <p:nvPr/>
        </p:nvSpPr>
        <p:spPr>
          <a:xfrm>
            <a:off x="193254" y="845935"/>
            <a:ext cx="17901491" cy="9278936"/>
          </a:xfrm>
          <a:custGeom>
            <a:avLst/>
            <a:gdLst/>
            <a:ahLst/>
            <a:cxnLst/>
            <a:rect l="l" t="t" r="r" b="b"/>
            <a:pathLst>
              <a:path w="17901491" h="9278936">
                <a:moveTo>
                  <a:pt x="0" y="0"/>
                </a:moveTo>
                <a:lnTo>
                  <a:pt x="17901492" y="0"/>
                </a:lnTo>
                <a:lnTo>
                  <a:pt x="17901492" y="9278936"/>
                </a:lnTo>
                <a:lnTo>
                  <a:pt x="0" y="9278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12" t="-6094" r="-1823" b="-3062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0393" y="-1083667"/>
            <a:ext cx="18067213" cy="1759830"/>
            <a:chOff x="0" y="0"/>
            <a:chExt cx="4758443" cy="4634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58443" cy="463494"/>
            </a:xfrm>
            <a:custGeom>
              <a:avLst/>
              <a:gdLst/>
              <a:ahLst/>
              <a:cxnLst/>
              <a:rect l="l" t="t" r="r" b="b"/>
              <a:pathLst>
                <a:path w="4758443" h="463494">
                  <a:moveTo>
                    <a:pt x="0" y="0"/>
                  </a:moveTo>
                  <a:lnTo>
                    <a:pt x="4758443" y="0"/>
                  </a:lnTo>
                  <a:lnTo>
                    <a:pt x="4758443" y="463494"/>
                  </a:lnTo>
                  <a:lnTo>
                    <a:pt x="0" y="463494"/>
                  </a:lnTo>
                  <a:close/>
                </a:path>
              </a:pathLst>
            </a:custGeom>
            <a:solidFill>
              <a:srgbClr val="FDFEF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758443" cy="492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3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1378458"/>
            <a:ext cx="18288000" cy="2110918"/>
            <a:chOff x="0" y="0"/>
            <a:chExt cx="4816593" cy="55596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555962"/>
            </a:xfrm>
            <a:custGeom>
              <a:avLst/>
              <a:gdLst/>
              <a:ahLst/>
              <a:cxnLst/>
              <a:rect l="l" t="t" r="r" b="b"/>
              <a:pathLst>
                <a:path w="4816592" h="555962">
                  <a:moveTo>
                    <a:pt x="7197" y="0"/>
                  </a:moveTo>
                  <a:lnTo>
                    <a:pt x="4809396" y="0"/>
                  </a:lnTo>
                  <a:cubicBezTo>
                    <a:pt x="4811304" y="0"/>
                    <a:pt x="4813135" y="758"/>
                    <a:pt x="4814484" y="2108"/>
                  </a:cubicBezTo>
                  <a:cubicBezTo>
                    <a:pt x="4815834" y="3457"/>
                    <a:pt x="4816592" y="5288"/>
                    <a:pt x="4816592" y="7197"/>
                  </a:cubicBezTo>
                  <a:lnTo>
                    <a:pt x="4816592" y="548765"/>
                  </a:lnTo>
                  <a:cubicBezTo>
                    <a:pt x="4816592" y="552740"/>
                    <a:pt x="4813371" y="555962"/>
                    <a:pt x="4809396" y="555962"/>
                  </a:cubicBezTo>
                  <a:lnTo>
                    <a:pt x="7197" y="555962"/>
                  </a:lnTo>
                  <a:cubicBezTo>
                    <a:pt x="3222" y="555962"/>
                    <a:pt x="0" y="552740"/>
                    <a:pt x="0" y="548765"/>
                  </a:cubicBezTo>
                  <a:lnTo>
                    <a:pt x="0" y="7197"/>
                  </a:lnTo>
                  <a:cubicBezTo>
                    <a:pt x="0" y="3222"/>
                    <a:pt x="3222" y="0"/>
                    <a:pt x="719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4816593" cy="5845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3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524278" y="89051"/>
            <a:ext cx="504422" cy="539488"/>
          </a:xfrm>
          <a:custGeom>
            <a:avLst/>
            <a:gdLst/>
            <a:ahLst/>
            <a:cxnLst/>
            <a:rect l="l" t="t" r="r" b="b"/>
            <a:pathLst>
              <a:path w="504422" h="539488">
                <a:moveTo>
                  <a:pt x="0" y="0"/>
                </a:moveTo>
                <a:lnTo>
                  <a:pt x="504422" y="0"/>
                </a:lnTo>
                <a:lnTo>
                  <a:pt x="504422" y="539489"/>
                </a:lnTo>
                <a:lnTo>
                  <a:pt x="0" y="5394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0" y="894668"/>
            <a:ext cx="18288000" cy="9392332"/>
          </a:xfrm>
          <a:custGeom>
            <a:avLst/>
            <a:gdLst/>
            <a:ahLst/>
            <a:cxnLst/>
            <a:rect l="l" t="t" r="r" b="b"/>
            <a:pathLst>
              <a:path w="18288000" h="9392332">
                <a:moveTo>
                  <a:pt x="0" y="0"/>
                </a:moveTo>
                <a:lnTo>
                  <a:pt x="18288000" y="0"/>
                </a:lnTo>
                <a:lnTo>
                  <a:pt x="18288000" y="9392332"/>
                </a:lnTo>
                <a:lnTo>
                  <a:pt x="0" y="93923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199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226202" y="89861"/>
            <a:ext cx="10405608" cy="48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3"/>
              </a:lnSpc>
              <a:spcBef>
                <a:spcPct val="0"/>
              </a:spcBef>
            </a:pPr>
            <a:r>
              <a:rPr lang="en-US" sz="2824">
                <a:solidFill>
                  <a:srgbClr val="314964"/>
                </a:solidFill>
                <a:latin typeface="Pangolin"/>
                <a:ea typeface="Pangolin"/>
                <a:cs typeface="Pangolin"/>
                <a:sym typeface="Pangolin"/>
              </a:rPr>
              <a:t>Hạng mục 2: Xây dựng và triển khai Hệ thống Quản trị trên Máy chủ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197149" y="113673"/>
            <a:ext cx="1536583" cy="48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3"/>
              </a:lnSpc>
              <a:spcBef>
                <a:spcPct val="0"/>
              </a:spcBef>
            </a:pPr>
            <a:r>
              <a:rPr lang="en-US" sz="2824">
                <a:solidFill>
                  <a:srgbClr val="314964"/>
                </a:solidFill>
                <a:latin typeface="Pangolin"/>
                <a:ea typeface="Pangolin"/>
                <a:cs typeface="Pangolin"/>
                <a:sym typeface="Pangolin"/>
              </a:rPr>
              <a:t>Page 7/13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0393" y="-1083667"/>
            <a:ext cx="18067213" cy="1759830"/>
            <a:chOff x="0" y="0"/>
            <a:chExt cx="4758443" cy="4634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58443" cy="463494"/>
            </a:xfrm>
            <a:custGeom>
              <a:avLst/>
              <a:gdLst/>
              <a:ahLst/>
              <a:cxnLst/>
              <a:rect l="l" t="t" r="r" b="b"/>
              <a:pathLst>
                <a:path w="4758443" h="463494">
                  <a:moveTo>
                    <a:pt x="0" y="0"/>
                  </a:moveTo>
                  <a:lnTo>
                    <a:pt x="4758443" y="0"/>
                  </a:lnTo>
                  <a:lnTo>
                    <a:pt x="4758443" y="463494"/>
                  </a:lnTo>
                  <a:lnTo>
                    <a:pt x="0" y="463494"/>
                  </a:lnTo>
                  <a:close/>
                </a:path>
              </a:pathLst>
            </a:custGeom>
            <a:solidFill>
              <a:srgbClr val="FDFEF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758443" cy="492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3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1378458"/>
            <a:ext cx="18288000" cy="2110918"/>
            <a:chOff x="0" y="0"/>
            <a:chExt cx="4816593" cy="55596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555962"/>
            </a:xfrm>
            <a:custGeom>
              <a:avLst/>
              <a:gdLst/>
              <a:ahLst/>
              <a:cxnLst/>
              <a:rect l="l" t="t" r="r" b="b"/>
              <a:pathLst>
                <a:path w="4816592" h="555962">
                  <a:moveTo>
                    <a:pt x="7197" y="0"/>
                  </a:moveTo>
                  <a:lnTo>
                    <a:pt x="4809396" y="0"/>
                  </a:lnTo>
                  <a:cubicBezTo>
                    <a:pt x="4811304" y="0"/>
                    <a:pt x="4813135" y="758"/>
                    <a:pt x="4814484" y="2108"/>
                  </a:cubicBezTo>
                  <a:cubicBezTo>
                    <a:pt x="4815834" y="3457"/>
                    <a:pt x="4816592" y="5288"/>
                    <a:pt x="4816592" y="7197"/>
                  </a:cubicBezTo>
                  <a:lnTo>
                    <a:pt x="4816592" y="548765"/>
                  </a:lnTo>
                  <a:cubicBezTo>
                    <a:pt x="4816592" y="552740"/>
                    <a:pt x="4813371" y="555962"/>
                    <a:pt x="4809396" y="555962"/>
                  </a:cubicBezTo>
                  <a:lnTo>
                    <a:pt x="7197" y="555962"/>
                  </a:lnTo>
                  <a:cubicBezTo>
                    <a:pt x="3222" y="555962"/>
                    <a:pt x="0" y="552740"/>
                    <a:pt x="0" y="548765"/>
                  </a:cubicBezTo>
                  <a:lnTo>
                    <a:pt x="0" y="7197"/>
                  </a:lnTo>
                  <a:cubicBezTo>
                    <a:pt x="0" y="3222"/>
                    <a:pt x="3222" y="0"/>
                    <a:pt x="719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4816593" cy="5845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3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524278" y="89051"/>
            <a:ext cx="504422" cy="539488"/>
          </a:xfrm>
          <a:custGeom>
            <a:avLst/>
            <a:gdLst/>
            <a:ahLst/>
            <a:cxnLst/>
            <a:rect l="l" t="t" r="r" b="b"/>
            <a:pathLst>
              <a:path w="504422" h="539488">
                <a:moveTo>
                  <a:pt x="0" y="0"/>
                </a:moveTo>
                <a:lnTo>
                  <a:pt x="504422" y="0"/>
                </a:lnTo>
                <a:lnTo>
                  <a:pt x="504422" y="539489"/>
                </a:lnTo>
                <a:lnTo>
                  <a:pt x="0" y="5394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226202" y="89861"/>
            <a:ext cx="12950168" cy="48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3"/>
              </a:lnSpc>
              <a:spcBef>
                <a:spcPct val="0"/>
              </a:spcBef>
            </a:pPr>
            <a:r>
              <a:rPr lang="en-US" sz="2824">
                <a:solidFill>
                  <a:srgbClr val="314964"/>
                </a:solidFill>
                <a:latin typeface="Pangolin"/>
                <a:ea typeface="Pangolin"/>
                <a:cs typeface="Pangolin"/>
                <a:sym typeface="Pangolin"/>
              </a:rPr>
              <a:t>Hạng mục 2: Xây dựng và triển khai Hệ thống Quản trị trên Máy chủ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197149" y="113673"/>
            <a:ext cx="1709589" cy="48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3"/>
              </a:lnSpc>
              <a:spcBef>
                <a:spcPct val="0"/>
              </a:spcBef>
            </a:pPr>
            <a:r>
              <a:rPr lang="en-US" sz="2824">
                <a:solidFill>
                  <a:srgbClr val="314964"/>
                </a:solidFill>
                <a:latin typeface="Pangolin"/>
                <a:ea typeface="Pangolin"/>
                <a:cs typeface="Pangolin"/>
                <a:sym typeface="Pangolin"/>
              </a:rPr>
              <a:t>Page 8/13</a:t>
            </a:r>
          </a:p>
        </p:txBody>
      </p:sp>
      <p:sp>
        <p:nvSpPr>
          <p:cNvPr id="11" name="Freeform 11"/>
          <p:cNvSpPr/>
          <p:nvPr/>
        </p:nvSpPr>
        <p:spPr>
          <a:xfrm>
            <a:off x="110393" y="845617"/>
            <a:ext cx="18067213" cy="9285173"/>
          </a:xfrm>
          <a:custGeom>
            <a:avLst/>
            <a:gdLst/>
            <a:ahLst/>
            <a:cxnLst/>
            <a:rect l="l" t="t" r="r" b="b"/>
            <a:pathLst>
              <a:path w="18067213" h="9285173">
                <a:moveTo>
                  <a:pt x="0" y="0"/>
                </a:moveTo>
                <a:lnTo>
                  <a:pt x="18067214" y="0"/>
                </a:lnTo>
                <a:lnTo>
                  <a:pt x="18067214" y="9285173"/>
                </a:lnTo>
                <a:lnTo>
                  <a:pt x="0" y="92851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03" t="-9107" r="-1403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416070" y="958124"/>
            <a:ext cx="15455861" cy="8751401"/>
          </a:xfrm>
          <a:custGeom>
            <a:avLst/>
            <a:gdLst/>
            <a:ahLst/>
            <a:cxnLst/>
            <a:rect l="l" t="t" r="r" b="b"/>
            <a:pathLst>
              <a:path w="15455861" h="8751401">
                <a:moveTo>
                  <a:pt x="0" y="0"/>
                </a:moveTo>
                <a:lnTo>
                  <a:pt x="15455860" y="0"/>
                </a:lnTo>
                <a:lnTo>
                  <a:pt x="15455860" y="8751401"/>
                </a:lnTo>
                <a:lnTo>
                  <a:pt x="0" y="87514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33" t="-1002" r="-1233"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0393" y="-1083667"/>
            <a:ext cx="18067213" cy="1759830"/>
            <a:chOff x="0" y="0"/>
            <a:chExt cx="4758443" cy="4634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58443" cy="463494"/>
            </a:xfrm>
            <a:custGeom>
              <a:avLst/>
              <a:gdLst/>
              <a:ahLst/>
              <a:cxnLst/>
              <a:rect l="l" t="t" r="r" b="b"/>
              <a:pathLst>
                <a:path w="4758443" h="463494">
                  <a:moveTo>
                    <a:pt x="0" y="0"/>
                  </a:moveTo>
                  <a:lnTo>
                    <a:pt x="4758443" y="0"/>
                  </a:lnTo>
                  <a:lnTo>
                    <a:pt x="4758443" y="463494"/>
                  </a:lnTo>
                  <a:lnTo>
                    <a:pt x="0" y="463494"/>
                  </a:lnTo>
                  <a:close/>
                </a:path>
              </a:pathLst>
            </a:custGeom>
            <a:solidFill>
              <a:srgbClr val="FDFEF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758443" cy="492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31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5197" y="845469"/>
            <a:ext cx="18177607" cy="9441531"/>
          </a:xfrm>
          <a:custGeom>
            <a:avLst/>
            <a:gdLst/>
            <a:ahLst/>
            <a:cxnLst/>
            <a:rect l="l" t="t" r="r" b="b"/>
            <a:pathLst>
              <a:path w="18177607" h="9441531">
                <a:moveTo>
                  <a:pt x="0" y="0"/>
                </a:moveTo>
                <a:lnTo>
                  <a:pt x="18177606" y="0"/>
                </a:lnTo>
                <a:lnTo>
                  <a:pt x="18177606" y="9441531"/>
                </a:lnTo>
                <a:lnTo>
                  <a:pt x="0" y="94415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1" t="-7194" r="-1041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0" y="-1378458"/>
            <a:ext cx="18288000" cy="2110918"/>
            <a:chOff x="0" y="0"/>
            <a:chExt cx="4816593" cy="55596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555962"/>
            </a:xfrm>
            <a:custGeom>
              <a:avLst/>
              <a:gdLst/>
              <a:ahLst/>
              <a:cxnLst/>
              <a:rect l="l" t="t" r="r" b="b"/>
              <a:pathLst>
                <a:path w="4816592" h="555962">
                  <a:moveTo>
                    <a:pt x="7197" y="0"/>
                  </a:moveTo>
                  <a:lnTo>
                    <a:pt x="4809396" y="0"/>
                  </a:lnTo>
                  <a:cubicBezTo>
                    <a:pt x="4811304" y="0"/>
                    <a:pt x="4813135" y="758"/>
                    <a:pt x="4814484" y="2108"/>
                  </a:cubicBezTo>
                  <a:cubicBezTo>
                    <a:pt x="4815834" y="3457"/>
                    <a:pt x="4816592" y="5288"/>
                    <a:pt x="4816592" y="7197"/>
                  </a:cubicBezTo>
                  <a:lnTo>
                    <a:pt x="4816592" y="548765"/>
                  </a:lnTo>
                  <a:cubicBezTo>
                    <a:pt x="4816592" y="552740"/>
                    <a:pt x="4813371" y="555962"/>
                    <a:pt x="4809396" y="555962"/>
                  </a:cubicBezTo>
                  <a:lnTo>
                    <a:pt x="7197" y="555962"/>
                  </a:lnTo>
                  <a:cubicBezTo>
                    <a:pt x="3222" y="555962"/>
                    <a:pt x="0" y="552740"/>
                    <a:pt x="0" y="548765"/>
                  </a:cubicBezTo>
                  <a:lnTo>
                    <a:pt x="0" y="7197"/>
                  </a:lnTo>
                  <a:cubicBezTo>
                    <a:pt x="0" y="3222"/>
                    <a:pt x="3222" y="0"/>
                    <a:pt x="719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4816593" cy="5845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31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524278" y="89051"/>
            <a:ext cx="504422" cy="539488"/>
          </a:xfrm>
          <a:custGeom>
            <a:avLst/>
            <a:gdLst/>
            <a:ahLst/>
            <a:cxnLst/>
            <a:rect l="l" t="t" r="r" b="b"/>
            <a:pathLst>
              <a:path w="504422" h="539488">
                <a:moveTo>
                  <a:pt x="0" y="0"/>
                </a:moveTo>
                <a:lnTo>
                  <a:pt x="504422" y="0"/>
                </a:lnTo>
                <a:lnTo>
                  <a:pt x="504422" y="539489"/>
                </a:lnTo>
                <a:lnTo>
                  <a:pt x="0" y="5394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226202" y="89861"/>
            <a:ext cx="11457686" cy="48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3"/>
              </a:lnSpc>
              <a:spcBef>
                <a:spcPct val="0"/>
              </a:spcBef>
            </a:pPr>
            <a:r>
              <a:rPr lang="en-US" sz="2824">
                <a:solidFill>
                  <a:srgbClr val="314964"/>
                </a:solidFill>
                <a:latin typeface="Pangolin"/>
                <a:ea typeface="Pangolin"/>
                <a:cs typeface="Pangolin"/>
                <a:sym typeface="Pangolin"/>
              </a:rPr>
              <a:t>Hạng mục 2: Xây dựng và triển khai Hệ thống Quản trị trên Máy chủ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197149" y="113673"/>
            <a:ext cx="1571184" cy="48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3"/>
              </a:lnSpc>
              <a:spcBef>
                <a:spcPct val="0"/>
              </a:spcBef>
            </a:pPr>
            <a:r>
              <a:rPr lang="en-US" sz="2824">
                <a:solidFill>
                  <a:srgbClr val="314964"/>
                </a:solidFill>
                <a:latin typeface="Pangolin"/>
                <a:ea typeface="Pangolin"/>
                <a:cs typeface="Pangolin"/>
                <a:sym typeface="Pangolin"/>
              </a:rPr>
              <a:t>Page 9/13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15370" y="0"/>
            <a:ext cx="18718740" cy="10374625"/>
          </a:xfrm>
          <a:custGeom>
            <a:avLst/>
            <a:gdLst/>
            <a:ahLst/>
            <a:cxnLst/>
            <a:rect l="l" t="t" r="r" b="b"/>
            <a:pathLst>
              <a:path w="18718740" h="10374625">
                <a:moveTo>
                  <a:pt x="0" y="0"/>
                </a:moveTo>
                <a:lnTo>
                  <a:pt x="18718740" y="0"/>
                </a:lnTo>
                <a:lnTo>
                  <a:pt x="18718740" y="10374625"/>
                </a:lnTo>
                <a:lnTo>
                  <a:pt x="0" y="103746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1" b="-33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0393" y="-1083667"/>
            <a:ext cx="18067213" cy="1759830"/>
            <a:chOff x="0" y="0"/>
            <a:chExt cx="4758443" cy="46349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58443" cy="463494"/>
            </a:xfrm>
            <a:custGeom>
              <a:avLst/>
              <a:gdLst/>
              <a:ahLst/>
              <a:cxnLst/>
              <a:rect l="l" t="t" r="r" b="b"/>
              <a:pathLst>
                <a:path w="4758443" h="463494">
                  <a:moveTo>
                    <a:pt x="0" y="0"/>
                  </a:moveTo>
                  <a:lnTo>
                    <a:pt x="4758443" y="0"/>
                  </a:lnTo>
                  <a:lnTo>
                    <a:pt x="4758443" y="463494"/>
                  </a:lnTo>
                  <a:lnTo>
                    <a:pt x="0" y="463494"/>
                  </a:lnTo>
                  <a:close/>
                </a:path>
              </a:pathLst>
            </a:custGeom>
            <a:solidFill>
              <a:srgbClr val="FDFEF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4758443" cy="492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3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-1378458"/>
            <a:ext cx="18288000" cy="2193214"/>
            <a:chOff x="0" y="0"/>
            <a:chExt cx="4816593" cy="57763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577637"/>
            </a:xfrm>
            <a:custGeom>
              <a:avLst/>
              <a:gdLst/>
              <a:ahLst/>
              <a:cxnLst/>
              <a:rect l="l" t="t" r="r" b="b"/>
              <a:pathLst>
                <a:path w="4816592" h="577637">
                  <a:moveTo>
                    <a:pt x="7197" y="0"/>
                  </a:moveTo>
                  <a:lnTo>
                    <a:pt x="4809396" y="0"/>
                  </a:lnTo>
                  <a:cubicBezTo>
                    <a:pt x="4811304" y="0"/>
                    <a:pt x="4813135" y="758"/>
                    <a:pt x="4814484" y="2108"/>
                  </a:cubicBezTo>
                  <a:cubicBezTo>
                    <a:pt x="4815834" y="3457"/>
                    <a:pt x="4816592" y="5288"/>
                    <a:pt x="4816592" y="7197"/>
                  </a:cubicBezTo>
                  <a:lnTo>
                    <a:pt x="4816592" y="570440"/>
                  </a:lnTo>
                  <a:cubicBezTo>
                    <a:pt x="4816592" y="574415"/>
                    <a:pt x="4813371" y="577637"/>
                    <a:pt x="4809396" y="577637"/>
                  </a:cubicBezTo>
                  <a:lnTo>
                    <a:pt x="7197" y="577637"/>
                  </a:lnTo>
                  <a:cubicBezTo>
                    <a:pt x="3222" y="577637"/>
                    <a:pt x="0" y="574415"/>
                    <a:pt x="0" y="570440"/>
                  </a:cubicBezTo>
                  <a:lnTo>
                    <a:pt x="0" y="7197"/>
                  </a:lnTo>
                  <a:cubicBezTo>
                    <a:pt x="0" y="3222"/>
                    <a:pt x="3222" y="0"/>
                    <a:pt x="719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4816593" cy="6062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31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524278" y="89051"/>
            <a:ext cx="504422" cy="539488"/>
          </a:xfrm>
          <a:custGeom>
            <a:avLst/>
            <a:gdLst/>
            <a:ahLst/>
            <a:cxnLst/>
            <a:rect l="l" t="t" r="r" b="b"/>
            <a:pathLst>
              <a:path w="504422" h="539488">
                <a:moveTo>
                  <a:pt x="0" y="0"/>
                </a:moveTo>
                <a:lnTo>
                  <a:pt x="504422" y="0"/>
                </a:lnTo>
                <a:lnTo>
                  <a:pt x="504422" y="539489"/>
                </a:lnTo>
                <a:lnTo>
                  <a:pt x="0" y="5394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226202" y="89861"/>
            <a:ext cx="10699211" cy="48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3"/>
              </a:lnSpc>
              <a:spcBef>
                <a:spcPct val="0"/>
              </a:spcBef>
            </a:pPr>
            <a:r>
              <a:rPr lang="en-US" sz="2824">
                <a:solidFill>
                  <a:srgbClr val="314964"/>
                </a:solidFill>
                <a:latin typeface="Pangolin"/>
                <a:ea typeface="Pangolin"/>
                <a:cs typeface="Pangolin"/>
                <a:sym typeface="Pangolin"/>
              </a:rPr>
              <a:t>Hạng mục 2: Xây dựng và triển khai Hệ thống Quản trị trên Máy chủ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197149" y="113673"/>
            <a:ext cx="1732503" cy="48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3"/>
              </a:lnSpc>
              <a:spcBef>
                <a:spcPct val="0"/>
              </a:spcBef>
            </a:pPr>
            <a:r>
              <a:rPr lang="en-US" sz="2824">
                <a:solidFill>
                  <a:srgbClr val="314964"/>
                </a:solidFill>
                <a:latin typeface="Pangolin"/>
                <a:ea typeface="Pangolin"/>
                <a:cs typeface="Pangolin"/>
                <a:sym typeface="Pangolin"/>
              </a:rPr>
              <a:t>Page 10/13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0393" y="-1083667"/>
            <a:ext cx="18067213" cy="1759830"/>
            <a:chOff x="0" y="0"/>
            <a:chExt cx="4758443" cy="4634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58443" cy="463494"/>
            </a:xfrm>
            <a:custGeom>
              <a:avLst/>
              <a:gdLst/>
              <a:ahLst/>
              <a:cxnLst/>
              <a:rect l="l" t="t" r="r" b="b"/>
              <a:pathLst>
                <a:path w="4758443" h="463494">
                  <a:moveTo>
                    <a:pt x="0" y="0"/>
                  </a:moveTo>
                  <a:lnTo>
                    <a:pt x="4758443" y="0"/>
                  </a:lnTo>
                  <a:lnTo>
                    <a:pt x="4758443" y="463494"/>
                  </a:lnTo>
                  <a:lnTo>
                    <a:pt x="0" y="463494"/>
                  </a:lnTo>
                  <a:close/>
                </a:path>
              </a:pathLst>
            </a:custGeom>
            <a:solidFill>
              <a:srgbClr val="FDFEF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758443" cy="492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3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1378458"/>
            <a:ext cx="18288000" cy="2193214"/>
            <a:chOff x="0" y="0"/>
            <a:chExt cx="4816593" cy="57763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577637"/>
            </a:xfrm>
            <a:custGeom>
              <a:avLst/>
              <a:gdLst/>
              <a:ahLst/>
              <a:cxnLst/>
              <a:rect l="l" t="t" r="r" b="b"/>
              <a:pathLst>
                <a:path w="4816592" h="577637">
                  <a:moveTo>
                    <a:pt x="7197" y="0"/>
                  </a:moveTo>
                  <a:lnTo>
                    <a:pt x="4809396" y="0"/>
                  </a:lnTo>
                  <a:cubicBezTo>
                    <a:pt x="4811304" y="0"/>
                    <a:pt x="4813135" y="758"/>
                    <a:pt x="4814484" y="2108"/>
                  </a:cubicBezTo>
                  <a:cubicBezTo>
                    <a:pt x="4815834" y="3457"/>
                    <a:pt x="4816592" y="5288"/>
                    <a:pt x="4816592" y="7197"/>
                  </a:cubicBezTo>
                  <a:lnTo>
                    <a:pt x="4816592" y="570440"/>
                  </a:lnTo>
                  <a:cubicBezTo>
                    <a:pt x="4816592" y="574415"/>
                    <a:pt x="4813371" y="577637"/>
                    <a:pt x="4809396" y="577637"/>
                  </a:cubicBezTo>
                  <a:lnTo>
                    <a:pt x="7197" y="577637"/>
                  </a:lnTo>
                  <a:cubicBezTo>
                    <a:pt x="3222" y="577637"/>
                    <a:pt x="0" y="574415"/>
                    <a:pt x="0" y="570440"/>
                  </a:cubicBezTo>
                  <a:lnTo>
                    <a:pt x="0" y="7197"/>
                  </a:lnTo>
                  <a:cubicBezTo>
                    <a:pt x="0" y="3222"/>
                    <a:pt x="3222" y="0"/>
                    <a:pt x="719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4816593" cy="6062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3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524278" y="89051"/>
            <a:ext cx="504422" cy="539488"/>
          </a:xfrm>
          <a:custGeom>
            <a:avLst/>
            <a:gdLst/>
            <a:ahLst/>
            <a:cxnLst/>
            <a:rect l="l" t="t" r="r" b="b"/>
            <a:pathLst>
              <a:path w="504422" h="539488">
                <a:moveTo>
                  <a:pt x="0" y="0"/>
                </a:moveTo>
                <a:lnTo>
                  <a:pt x="504422" y="0"/>
                </a:lnTo>
                <a:lnTo>
                  <a:pt x="504422" y="539489"/>
                </a:lnTo>
                <a:lnTo>
                  <a:pt x="0" y="5394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226202" y="89861"/>
            <a:ext cx="10797079" cy="48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3"/>
              </a:lnSpc>
              <a:spcBef>
                <a:spcPct val="0"/>
              </a:spcBef>
            </a:pPr>
            <a:r>
              <a:rPr lang="en-US" sz="2824">
                <a:solidFill>
                  <a:srgbClr val="314964"/>
                </a:solidFill>
                <a:latin typeface="Pangolin"/>
                <a:ea typeface="Pangolin"/>
                <a:cs typeface="Pangolin"/>
                <a:sym typeface="Pangolin"/>
              </a:rPr>
              <a:t>Hạng mục 2: Xây dựng và triển khai Hệ thống Quản trị trên Máy chủ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197149" y="113673"/>
            <a:ext cx="1674988" cy="48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3"/>
              </a:lnSpc>
              <a:spcBef>
                <a:spcPct val="0"/>
              </a:spcBef>
            </a:pPr>
            <a:r>
              <a:rPr lang="en-US" sz="2824">
                <a:solidFill>
                  <a:srgbClr val="314964"/>
                </a:solidFill>
                <a:latin typeface="Pangolin"/>
                <a:ea typeface="Pangolin"/>
                <a:cs typeface="Pangolin"/>
                <a:sym typeface="Pangolin"/>
              </a:rPr>
              <a:t>Page 11/13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5197" y="814756"/>
            <a:ext cx="18177607" cy="9419217"/>
            <a:chOff x="0" y="0"/>
            <a:chExt cx="24236809" cy="1255895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236809" cy="12558956"/>
            </a:xfrm>
            <a:custGeom>
              <a:avLst/>
              <a:gdLst/>
              <a:ahLst/>
              <a:cxnLst/>
              <a:rect l="l" t="t" r="r" b="b"/>
              <a:pathLst>
                <a:path w="24236809" h="12558956">
                  <a:moveTo>
                    <a:pt x="0" y="0"/>
                  </a:moveTo>
                  <a:lnTo>
                    <a:pt x="24236809" y="0"/>
                  </a:lnTo>
                  <a:lnTo>
                    <a:pt x="24236809" y="12558956"/>
                  </a:lnTo>
                  <a:lnTo>
                    <a:pt x="0" y="12558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561" t="-8543" r="-1561"/>
              </a:stretch>
            </a:blipFill>
          </p:spPr>
        </p:sp>
        <p:grpSp>
          <p:nvGrpSpPr>
            <p:cNvPr id="13" name="Group 13"/>
            <p:cNvGrpSpPr/>
            <p:nvPr/>
          </p:nvGrpSpPr>
          <p:grpSpPr>
            <a:xfrm>
              <a:off x="625399" y="2658964"/>
              <a:ext cx="21662177" cy="6928866"/>
              <a:chOff x="0" y="0"/>
              <a:chExt cx="4568021" cy="1461128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568021" cy="1461128"/>
              </a:xfrm>
              <a:custGeom>
                <a:avLst/>
                <a:gdLst/>
                <a:ahLst/>
                <a:cxnLst/>
                <a:rect l="l" t="t" r="r" b="b"/>
                <a:pathLst>
                  <a:path w="4568021" h="1461128">
                    <a:moveTo>
                      <a:pt x="7588" y="0"/>
                    </a:moveTo>
                    <a:lnTo>
                      <a:pt x="4560432" y="0"/>
                    </a:lnTo>
                    <a:cubicBezTo>
                      <a:pt x="4562445" y="0"/>
                      <a:pt x="4564375" y="799"/>
                      <a:pt x="4565798" y="2223"/>
                    </a:cubicBezTo>
                    <a:cubicBezTo>
                      <a:pt x="4567221" y="3646"/>
                      <a:pt x="4568021" y="5576"/>
                      <a:pt x="4568021" y="7588"/>
                    </a:cubicBezTo>
                    <a:lnTo>
                      <a:pt x="4568021" y="1453539"/>
                    </a:lnTo>
                    <a:cubicBezTo>
                      <a:pt x="4568021" y="1457730"/>
                      <a:pt x="4564623" y="1461128"/>
                      <a:pt x="4560432" y="1461128"/>
                    </a:cubicBezTo>
                    <a:lnTo>
                      <a:pt x="7588" y="1461128"/>
                    </a:lnTo>
                    <a:cubicBezTo>
                      <a:pt x="3397" y="1461128"/>
                      <a:pt x="0" y="1457730"/>
                      <a:pt x="0" y="1453539"/>
                    </a:cubicBezTo>
                    <a:lnTo>
                      <a:pt x="0" y="7588"/>
                    </a:lnTo>
                    <a:cubicBezTo>
                      <a:pt x="0" y="3397"/>
                      <a:pt x="3397" y="0"/>
                      <a:pt x="758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28575"/>
                <a:ext cx="4568021" cy="1489703"/>
              </a:xfrm>
              <a:prstGeom prst="rect">
                <a:avLst/>
              </a:prstGeom>
            </p:spPr>
            <p:txBody>
              <a:bodyPr lIns="53905" tIns="53905" rIns="53905" bIns="53905" rtlCol="0" anchor="ctr"/>
              <a:lstStyle/>
              <a:p>
                <a:pPr algn="ctr">
                  <a:lnSpc>
                    <a:spcPts val="2531"/>
                  </a:lnSpc>
                </a:pPr>
                <a:endParaRPr/>
              </a:p>
            </p:txBody>
          </p:sp>
        </p:grpSp>
        <p:sp>
          <p:nvSpPr>
            <p:cNvPr id="16" name="Freeform 16"/>
            <p:cNvSpPr/>
            <p:nvPr/>
          </p:nvSpPr>
          <p:spPr>
            <a:xfrm rot="-5400000">
              <a:off x="10338130" y="3664879"/>
              <a:ext cx="5696765" cy="3922663"/>
            </a:xfrm>
            <a:custGeom>
              <a:avLst/>
              <a:gdLst/>
              <a:ahLst/>
              <a:cxnLst/>
              <a:rect l="l" t="t" r="r" b="b"/>
              <a:pathLst>
                <a:path w="5696765" h="3922663">
                  <a:moveTo>
                    <a:pt x="0" y="0"/>
                  </a:moveTo>
                  <a:lnTo>
                    <a:pt x="5696765" y="0"/>
                  </a:lnTo>
                  <a:lnTo>
                    <a:pt x="5696765" y="3922663"/>
                  </a:lnTo>
                  <a:lnTo>
                    <a:pt x="0" y="39226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1364" t="-10146" r="-8918" b="-8892"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 rot="-5400000">
              <a:off x="12728147" y="6971626"/>
              <a:ext cx="916730" cy="3922663"/>
            </a:xfrm>
            <a:custGeom>
              <a:avLst/>
              <a:gdLst/>
              <a:ahLst/>
              <a:cxnLst/>
              <a:rect l="l" t="t" r="r" b="b"/>
              <a:pathLst>
                <a:path w="916730" h="3922663">
                  <a:moveTo>
                    <a:pt x="0" y="0"/>
                  </a:moveTo>
                  <a:lnTo>
                    <a:pt x="916731" y="0"/>
                  </a:lnTo>
                  <a:lnTo>
                    <a:pt x="916731" y="3922664"/>
                  </a:lnTo>
                  <a:lnTo>
                    <a:pt x="0" y="3922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8044" t="-10146" r="-775851" b="-8892"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11425866" y="3007246"/>
              <a:ext cx="3472111" cy="6172642"/>
            </a:xfrm>
            <a:custGeom>
              <a:avLst/>
              <a:gdLst/>
              <a:ahLst/>
              <a:cxnLst/>
              <a:rect l="l" t="t" r="r" b="b"/>
              <a:pathLst>
                <a:path w="3472111" h="6172642">
                  <a:moveTo>
                    <a:pt x="0" y="0"/>
                  </a:moveTo>
                  <a:lnTo>
                    <a:pt x="3472111" y="0"/>
                  </a:lnTo>
                  <a:lnTo>
                    <a:pt x="3472111" y="6172642"/>
                  </a:lnTo>
                  <a:lnTo>
                    <a:pt x="0" y="61726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 rot="-5400000">
              <a:off x="15473415" y="3346218"/>
              <a:ext cx="5826138" cy="4539448"/>
            </a:xfrm>
            <a:custGeom>
              <a:avLst/>
              <a:gdLst/>
              <a:ahLst/>
              <a:cxnLst/>
              <a:rect l="l" t="t" r="r" b="b"/>
              <a:pathLst>
                <a:path w="5826138" h="4539448">
                  <a:moveTo>
                    <a:pt x="0" y="0"/>
                  </a:moveTo>
                  <a:lnTo>
                    <a:pt x="5826138" y="0"/>
                  </a:lnTo>
                  <a:lnTo>
                    <a:pt x="5826138" y="4539448"/>
                  </a:lnTo>
                  <a:lnTo>
                    <a:pt x="0" y="4539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9959" t="-10146" r="-10092" b="-8892"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 rot="-5400000">
              <a:off x="17805170" y="6716994"/>
              <a:ext cx="1060874" cy="4437693"/>
            </a:xfrm>
            <a:custGeom>
              <a:avLst/>
              <a:gdLst/>
              <a:ahLst/>
              <a:cxnLst/>
              <a:rect l="l" t="t" r="r" b="b"/>
              <a:pathLst>
                <a:path w="1060874" h="4437693">
                  <a:moveTo>
                    <a:pt x="0" y="0"/>
                  </a:moveTo>
                  <a:lnTo>
                    <a:pt x="1060874" y="0"/>
                  </a:lnTo>
                  <a:lnTo>
                    <a:pt x="1060874" y="4437693"/>
                  </a:lnTo>
                  <a:lnTo>
                    <a:pt x="0" y="44376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8044" t="-10378" r="-775851" b="-11389"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>
              <a:off x="16376393" y="2954314"/>
              <a:ext cx="3963266" cy="6274188"/>
            </a:xfrm>
            <a:custGeom>
              <a:avLst/>
              <a:gdLst/>
              <a:ahLst/>
              <a:cxnLst/>
              <a:rect l="l" t="t" r="r" b="b"/>
              <a:pathLst>
                <a:path w="3963266" h="6274188">
                  <a:moveTo>
                    <a:pt x="0" y="0"/>
                  </a:moveTo>
                  <a:lnTo>
                    <a:pt x="3963266" y="0"/>
                  </a:lnTo>
                  <a:lnTo>
                    <a:pt x="3963266" y="6274188"/>
                  </a:lnTo>
                  <a:lnTo>
                    <a:pt x="0" y="62741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7626" b="-4671"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 rot="-5400000">
              <a:off x="2830891" y="7509680"/>
              <a:ext cx="2908840" cy="660299"/>
            </a:xfrm>
            <a:custGeom>
              <a:avLst/>
              <a:gdLst/>
              <a:ahLst/>
              <a:cxnLst/>
              <a:rect l="l" t="t" r="r" b="b"/>
              <a:pathLst>
                <a:path w="2908840" h="660299">
                  <a:moveTo>
                    <a:pt x="0" y="0"/>
                  </a:moveTo>
                  <a:lnTo>
                    <a:pt x="2908840" y="0"/>
                  </a:lnTo>
                  <a:lnTo>
                    <a:pt x="2908840" y="660298"/>
                  </a:lnTo>
                  <a:lnTo>
                    <a:pt x="0" y="6602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719" t="-51973" r="-7603" b="-125117"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 rot="-5400000">
              <a:off x="1939553" y="7284031"/>
              <a:ext cx="2960088" cy="1113300"/>
            </a:xfrm>
            <a:custGeom>
              <a:avLst/>
              <a:gdLst/>
              <a:ahLst/>
              <a:cxnLst/>
              <a:rect l="l" t="t" r="r" b="b"/>
              <a:pathLst>
                <a:path w="2960088" h="1113300">
                  <a:moveTo>
                    <a:pt x="0" y="0"/>
                  </a:moveTo>
                  <a:lnTo>
                    <a:pt x="2960088" y="0"/>
                  </a:lnTo>
                  <a:lnTo>
                    <a:pt x="2960088" y="1113300"/>
                  </a:lnTo>
                  <a:lnTo>
                    <a:pt x="0" y="1113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6844" t="-14794" r="-6740" b="-49923"/>
              </a:stretch>
            </a:blipFill>
          </p:spPr>
        </p:sp>
        <p:sp>
          <p:nvSpPr>
            <p:cNvPr id="24" name="Freeform 24"/>
            <p:cNvSpPr/>
            <p:nvPr/>
          </p:nvSpPr>
          <p:spPr>
            <a:xfrm rot="-5400000">
              <a:off x="4157847" y="7526837"/>
              <a:ext cx="2913339" cy="630484"/>
            </a:xfrm>
            <a:custGeom>
              <a:avLst/>
              <a:gdLst/>
              <a:ahLst/>
              <a:cxnLst/>
              <a:rect l="l" t="t" r="r" b="b"/>
              <a:pathLst>
                <a:path w="2913339" h="630484">
                  <a:moveTo>
                    <a:pt x="0" y="0"/>
                  </a:moveTo>
                  <a:lnTo>
                    <a:pt x="2913339" y="0"/>
                  </a:lnTo>
                  <a:lnTo>
                    <a:pt x="2913339" y="630484"/>
                  </a:lnTo>
                  <a:lnTo>
                    <a:pt x="0" y="6304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542" t="-164376" r="-7676" b="-26004"/>
              </a:stretch>
            </a:blipFill>
          </p:spPr>
        </p:sp>
        <p:sp>
          <p:nvSpPr>
            <p:cNvPr id="25" name="Freeform 25"/>
            <p:cNvSpPr/>
            <p:nvPr/>
          </p:nvSpPr>
          <p:spPr>
            <a:xfrm rot="-5400000">
              <a:off x="3486989" y="7459076"/>
              <a:ext cx="2955179" cy="748806"/>
            </a:xfrm>
            <a:custGeom>
              <a:avLst/>
              <a:gdLst/>
              <a:ahLst/>
              <a:cxnLst/>
              <a:rect l="l" t="t" r="r" b="b"/>
              <a:pathLst>
                <a:path w="2955179" h="748806">
                  <a:moveTo>
                    <a:pt x="0" y="0"/>
                  </a:moveTo>
                  <a:lnTo>
                    <a:pt x="2955180" y="0"/>
                  </a:lnTo>
                  <a:lnTo>
                    <a:pt x="2955180" y="748806"/>
                  </a:lnTo>
                  <a:lnTo>
                    <a:pt x="0" y="748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056" t="-45841" r="-6484" b="-98556"/>
              </a:stretch>
            </a:blipFill>
          </p:spPr>
        </p:sp>
        <p:sp>
          <p:nvSpPr>
            <p:cNvPr id="26" name="Freeform 26"/>
            <p:cNvSpPr/>
            <p:nvPr/>
          </p:nvSpPr>
          <p:spPr>
            <a:xfrm>
              <a:off x="2980748" y="6523032"/>
              <a:ext cx="2835990" cy="2678809"/>
            </a:xfrm>
            <a:custGeom>
              <a:avLst/>
              <a:gdLst/>
              <a:ahLst/>
              <a:cxnLst/>
              <a:rect l="l" t="t" r="r" b="b"/>
              <a:pathLst>
                <a:path w="2835990" h="2678809">
                  <a:moveTo>
                    <a:pt x="0" y="0"/>
                  </a:moveTo>
                  <a:lnTo>
                    <a:pt x="2835990" y="0"/>
                  </a:lnTo>
                  <a:lnTo>
                    <a:pt x="2835990" y="2678810"/>
                  </a:lnTo>
                  <a:lnTo>
                    <a:pt x="0" y="26788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49734" b="-38474"/>
              </a:stretch>
            </a:blipFill>
          </p:spPr>
        </p:sp>
        <p:sp>
          <p:nvSpPr>
            <p:cNvPr id="27" name="Freeform 27"/>
            <p:cNvSpPr/>
            <p:nvPr/>
          </p:nvSpPr>
          <p:spPr>
            <a:xfrm>
              <a:off x="3832009" y="2606859"/>
              <a:ext cx="4069177" cy="3228977"/>
            </a:xfrm>
            <a:custGeom>
              <a:avLst/>
              <a:gdLst/>
              <a:ahLst/>
              <a:cxnLst/>
              <a:rect l="l" t="t" r="r" b="b"/>
              <a:pathLst>
                <a:path w="4069177" h="3228977">
                  <a:moveTo>
                    <a:pt x="0" y="0"/>
                  </a:moveTo>
                  <a:lnTo>
                    <a:pt x="4069177" y="0"/>
                  </a:lnTo>
                  <a:lnTo>
                    <a:pt x="4069177" y="3228977"/>
                  </a:lnTo>
                  <a:lnTo>
                    <a:pt x="0" y="3228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1007" t="-10232" r="-64730" b="-10558"/>
              </a:stretch>
            </a:blipFill>
          </p:spPr>
        </p:sp>
        <p:sp>
          <p:nvSpPr>
            <p:cNvPr id="28" name="Freeform 28"/>
            <p:cNvSpPr/>
            <p:nvPr/>
          </p:nvSpPr>
          <p:spPr>
            <a:xfrm>
              <a:off x="7647147" y="2606859"/>
              <a:ext cx="2143827" cy="3228977"/>
            </a:xfrm>
            <a:custGeom>
              <a:avLst/>
              <a:gdLst/>
              <a:ahLst/>
              <a:cxnLst/>
              <a:rect l="l" t="t" r="r" b="b"/>
              <a:pathLst>
                <a:path w="2143827" h="3228977">
                  <a:moveTo>
                    <a:pt x="0" y="0"/>
                  </a:moveTo>
                  <a:lnTo>
                    <a:pt x="2143827" y="0"/>
                  </a:lnTo>
                  <a:lnTo>
                    <a:pt x="2143827" y="3228977"/>
                  </a:lnTo>
                  <a:lnTo>
                    <a:pt x="0" y="3228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213608" t="-10232" r="-19957" b="-10558"/>
              </a:stretch>
            </a:blipFill>
          </p:spPr>
        </p:sp>
        <p:sp>
          <p:nvSpPr>
            <p:cNvPr id="29" name="Freeform 29"/>
            <p:cNvSpPr/>
            <p:nvPr/>
          </p:nvSpPr>
          <p:spPr>
            <a:xfrm>
              <a:off x="4015365" y="2790785"/>
              <a:ext cx="5557763" cy="2871683"/>
            </a:xfrm>
            <a:custGeom>
              <a:avLst/>
              <a:gdLst/>
              <a:ahLst/>
              <a:cxnLst/>
              <a:rect l="l" t="t" r="r" b="b"/>
              <a:pathLst>
                <a:path w="5557763" h="2871683">
                  <a:moveTo>
                    <a:pt x="0" y="0"/>
                  </a:moveTo>
                  <a:lnTo>
                    <a:pt x="5557763" y="0"/>
                  </a:lnTo>
                  <a:lnTo>
                    <a:pt x="5557763" y="2871683"/>
                  </a:lnTo>
                  <a:lnTo>
                    <a:pt x="0" y="28716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15989" r="-3172" b="-33767"/>
              </a:stretch>
            </a:blipFill>
          </p:spPr>
        </p:sp>
        <p:sp>
          <p:nvSpPr>
            <p:cNvPr id="30" name="Freeform 30"/>
            <p:cNvSpPr/>
            <p:nvPr/>
          </p:nvSpPr>
          <p:spPr>
            <a:xfrm rot="-5400000">
              <a:off x="7642651" y="7269379"/>
              <a:ext cx="3093618" cy="1125444"/>
            </a:xfrm>
            <a:custGeom>
              <a:avLst/>
              <a:gdLst/>
              <a:ahLst/>
              <a:cxnLst/>
              <a:rect l="l" t="t" r="r" b="b"/>
              <a:pathLst>
                <a:path w="3093618" h="1125444">
                  <a:moveTo>
                    <a:pt x="0" y="0"/>
                  </a:moveTo>
                  <a:lnTo>
                    <a:pt x="3093619" y="0"/>
                  </a:lnTo>
                  <a:lnTo>
                    <a:pt x="3093619" y="1125444"/>
                  </a:lnTo>
                  <a:lnTo>
                    <a:pt x="0" y="1125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056" t="-31929" r="-6484" b="-38297"/>
              </a:stretch>
            </a:blipFill>
          </p:spPr>
        </p:sp>
        <p:sp>
          <p:nvSpPr>
            <p:cNvPr id="31" name="Freeform 31"/>
            <p:cNvSpPr/>
            <p:nvPr/>
          </p:nvSpPr>
          <p:spPr>
            <a:xfrm rot="-5400000">
              <a:off x="6501334" y="7265918"/>
              <a:ext cx="3089018" cy="1161791"/>
            </a:xfrm>
            <a:custGeom>
              <a:avLst/>
              <a:gdLst/>
              <a:ahLst/>
              <a:cxnLst/>
              <a:rect l="l" t="t" r="r" b="b"/>
              <a:pathLst>
                <a:path w="3089018" h="1161791">
                  <a:moveTo>
                    <a:pt x="0" y="0"/>
                  </a:moveTo>
                  <a:lnTo>
                    <a:pt x="3089018" y="0"/>
                  </a:lnTo>
                  <a:lnTo>
                    <a:pt x="3089018" y="1161792"/>
                  </a:lnTo>
                  <a:lnTo>
                    <a:pt x="0" y="1161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6844" t="-14794" r="-6740" b="-49923"/>
              </a:stretch>
            </a:blipFill>
          </p:spPr>
        </p:sp>
        <p:sp>
          <p:nvSpPr>
            <p:cNvPr id="32" name="Freeform 32"/>
            <p:cNvSpPr/>
            <p:nvPr/>
          </p:nvSpPr>
          <p:spPr>
            <a:xfrm rot="-5400000">
              <a:off x="8386275" y="7521333"/>
              <a:ext cx="3079539" cy="660441"/>
            </a:xfrm>
            <a:custGeom>
              <a:avLst/>
              <a:gdLst/>
              <a:ahLst/>
              <a:cxnLst/>
              <a:rect l="l" t="t" r="r" b="b"/>
              <a:pathLst>
                <a:path w="3079539" h="660441">
                  <a:moveTo>
                    <a:pt x="0" y="0"/>
                  </a:moveTo>
                  <a:lnTo>
                    <a:pt x="3079539" y="0"/>
                  </a:lnTo>
                  <a:lnTo>
                    <a:pt x="3079539" y="660441"/>
                  </a:lnTo>
                  <a:lnTo>
                    <a:pt x="0" y="660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6571" t="-164376" r="-7607" b="-26004"/>
              </a:stretch>
            </a:blipFill>
          </p:spPr>
        </p:sp>
        <p:sp>
          <p:nvSpPr>
            <p:cNvPr id="33" name="Freeform 33"/>
            <p:cNvSpPr/>
            <p:nvPr/>
          </p:nvSpPr>
          <p:spPr>
            <a:xfrm>
              <a:off x="7588952" y="6427873"/>
              <a:ext cx="2532871" cy="2810259"/>
            </a:xfrm>
            <a:custGeom>
              <a:avLst/>
              <a:gdLst/>
              <a:ahLst/>
              <a:cxnLst/>
              <a:rect l="l" t="t" r="r" b="b"/>
              <a:pathLst>
                <a:path w="2532871" h="2810259">
                  <a:moveTo>
                    <a:pt x="0" y="0"/>
                  </a:moveTo>
                  <a:lnTo>
                    <a:pt x="2532871" y="0"/>
                  </a:lnTo>
                  <a:lnTo>
                    <a:pt x="2532871" y="2810259"/>
                  </a:lnTo>
                  <a:lnTo>
                    <a:pt x="0" y="2810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b="-20172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0393" y="-1083667"/>
            <a:ext cx="18067213" cy="1759830"/>
            <a:chOff x="0" y="0"/>
            <a:chExt cx="4758443" cy="4634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58443" cy="463494"/>
            </a:xfrm>
            <a:custGeom>
              <a:avLst/>
              <a:gdLst/>
              <a:ahLst/>
              <a:cxnLst/>
              <a:rect l="l" t="t" r="r" b="b"/>
              <a:pathLst>
                <a:path w="4758443" h="463494">
                  <a:moveTo>
                    <a:pt x="0" y="0"/>
                  </a:moveTo>
                  <a:lnTo>
                    <a:pt x="4758443" y="0"/>
                  </a:lnTo>
                  <a:lnTo>
                    <a:pt x="4758443" y="463494"/>
                  </a:lnTo>
                  <a:lnTo>
                    <a:pt x="0" y="463494"/>
                  </a:lnTo>
                  <a:close/>
                </a:path>
              </a:pathLst>
            </a:custGeom>
            <a:solidFill>
              <a:srgbClr val="FDFEF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758443" cy="492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3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1378458"/>
            <a:ext cx="18288000" cy="2193214"/>
            <a:chOff x="0" y="0"/>
            <a:chExt cx="4816593" cy="57763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577637"/>
            </a:xfrm>
            <a:custGeom>
              <a:avLst/>
              <a:gdLst/>
              <a:ahLst/>
              <a:cxnLst/>
              <a:rect l="l" t="t" r="r" b="b"/>
              <a:pathLst>
                <a:path w="4816592" h="577637">
                  <a:moveTo>
                    <a:pt x="7197" y="0"/>
                  </a:moveTo>
                  <a:lnTo>
                    <a:pt x="4809396" y="0"/>
                  </a:lnTo>
                  <a:cubicBezTo>
                    <a:pt x="4811304" y="0"/>
                    <a:pt x="4813135" y="758"/>
                    <a:pt x="4814484" y="2108"/>
                  </a:cubicBezTo>
                  <a:cubicBezTo>
                    <a:pt x="4815834" y="3457"/>
                    <a:pt x="4816592" y="5288"/>
                    <a:pt x="4816592" y="7197"/>
                  </a:cubicBezTo>
                  <a:lnTo>
                    <a:pt x="4816592" y="570440"/>
                  </a:lnTo>
                  <a:cubicBezTo>
                    <a:pt x="4816592" y="574415"/>
                    <a:pt x="4813371" y="577637"/>
                    <a:pt x="4809396" y="577637"/>
                  </a:cubicBezTo>
                  <a:lnTo>
                    <a:pt x="7197" y="577637"/>
                  </a:lnTo>
                  <a:cubicBezTo>
                    <a:pt x="3222" y="577637"/>
                    <a:pt x="0" y="574415"/>
                    <a:pt x="0" y="570440"/>
                  </a:cubicBezTo>
                  <a:lnTo>
                    <a:pt x="0" y="7197"/>
                  </a:lnTo>
                  <a:cubicBezTo>
                    <a:pt x="0" y="3222"/>
                    <a:pt x="3222" y="0"/>
                    <a:pt x="719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4816593" cy="6062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3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524278" y="89051"/>
            <a:ext cx="504422" cy="539488"/>
          </a:xfrm>
          <a:custGeom>
            <a:avLst/>
            <a:gdLst/>
            <a:ahLst/>
            <a:cxnLst/>
            <a:rect l="l" t="t" r="r" b="b"/>
            <a:pathLst>
              <a:path w="504422" h="539488">
                <a:moveTo>
                  <a:pt x="0" y="0"/>
                </a:moveTo>
                <a:lnTo>
                  <a:pt x="504422" y="0"/>
                </a:lnTo>
                <a:lnTo>
                  <a:pt x="504422" y="539489"/>
                </a:lnTo>
                <a:lnTo>
                  <a:pt x="0" y="5394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226202" y="89861"/>
            <a:ext cx="1499651" cy="48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3"/>
              </a:lnSpc>
              <a:spcBef>
                <a:spcPct val="0"/>
              </a:spcBef>
            </a:pPr>
            <a:r>
              <a:rPr lang="en-US" sz="2824">
                <a:solidFill>
                  <a:srgbClr val="314964"/>
                </a:solidFill>
                <a:latin typeface="Pangolin"/>
                <a:ea typeface="Pangolin"/>
                <a:cs typeface="Pangolin"/>
                <a:sym typeface="Pangolin"/>
              </a:rPr>
              <a:t>Tổng kết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197149" y="113673"/>
            <a:ext cx="1597371" cy="48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3"/>
              </a:lnSpc>
              <a:spcBef>
                <a:spcPct val="0"/>
              </a:spcBef>
            </a:pPr>
            <a:r>
              <a:rPr lang="en-US" sz="2824">
                <a:solidFill>
                  <a:srgbClr val="314964"/>
                </a:solidFill>
                <a:latin typeface="Pangolin"/>
                <a:ea typeface="Pangolin"/>
                <a:cs typeface="Pangolin"/>
                <a:sym typeface="Pangolin"/>
              </a:rPr>
              <a:t>Page 12/13</a:t>
            </a:r>
          </a:p>
        </p:txBody>
      </p:sp>
      <p:sp>
        <p:nvSpPr>
          <p:cNvPr id="11" name="Freeform 11"/>
          <p:cNvSpPr/>
          <p:nvPr/>
        </p:nvSpPr>
        <p:spPr>
          <a:xfrm>
            <a:off x="-154848" y="906365"/>
            <a:ext cx="18597696" cy="9380635"/>
          </a:xfrm>
          <a:custGeom>
            <a:avLst/>
            <a:gdLst/>
            <a:ahLst/>
            <a:cxnLst/>
            <a:rect l="l" t="t" r="r" b="b"/>
            <a:pathLst>
              <a:path w="18597696" h="9380635">
                <a:moveTo>
                  <a:pt x="0" y="0"/>
                </a:moveTo>
                <a:lnTo>
                  <a:pt x="18597696" y="0"/>
                </a:lnTo>
                <a:lnTo>
                  <a:pt x="18597696" y="9380635"/>
                </a:lnTo>
                <a:lnTo>
                  <a:pt x="0" y="93806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132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08991" y="1187740"/>
            <a:ext cx="16505455" cy="8603144"/>
          </a:xfrm>
          <a:custGeom>
            <a:avLst/>
            <a:gdLst/>
            <a:ahLst/>
            <a:cxnLst/>
            <a:rect l="l" t="t" r="r" b="b"/>
            <a:pathLst>
              <a:path w="16505455" h="8603144">
                <a:moveTo>
                  <a:pt x="0" y="0"/>
                </a:moveTo>
                <a:lnTo>
                  <a:pt x="16505455" y="0"/>
                </a:lnTo>
                <a:lnTo>
                  <a:pt x="16505455" y="8603145"/>
                </a:lnTo>
                <a:lnTo>
                  <a:pt x="0" y="86031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467" t="-12067" r="-3990" b="-2953"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54305"/>
            <a:ext cx="18288000" cy="9978390"/>
          </a:xfrm>
          <a:custGeom>
            <a:avLst/>
            <a:gdLst/>
            <a:ahLst/>
            <a:cxnLst/>
            <a:rect l="l" t="t" r="r" b="b"/>
            <a:pathLst>
              <a:path w="18288000" h="9978390">
                <a:moveTo>
                  <a:pt x="0" y="0"/>
                </a:moveTo>
                <a:lnTo>
                  <a:pt x="18288000" y="0"/>
                </a:lnTo>
                <a:lnTo>
                  <a:pt x="18288000" y="9978390"/>
                </a:lnTo>
                <a:lnTo>
                  <a:pt x="0" y="99783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0393" y="89051"/>
            <a:ext cx="18067213" cy="694875"/>
            <a:chOff x="0" y="0"/>
            <a:chExt cx="4758443" cy="18301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58443" cy="183012"/>
            </a:xfrm>
            <a:custGeom>
              <a:avLst/>
              <a:gdLst/>
              <a:ahLst/>
              <a:cxnLst/>
              <a:rect l="l" t="t" r="r" b="b"/>
              <a:pathLst>
                <a:path w="4758443" h="183012">
                  <a:moveTo>
                    <a:pt x="0" y="0"/>
                  </a:moveTo>
                  <a:lnTo>
                    <a:pt x="4758443" y="0"/>
                  </a:lnTo>
                  <a:lnTo>
                    <a:pt x="4758443" y="183012"/>
                  </a:lnTo>
                  <a:lnTo>
                    <a:pt x="0" y="183012"/>
                  </a:lnTo>
                  <a:close/>
                </a:path>
              </a:pathLst>
            </a:custGeom>
            <a:solidFill>
              <a:srgbClr val="FDFEF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4758443" cy="2115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31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187</Words>
  <Application>Microsoft Office PowerPoint</Application>
  <PresentationFormat>Custom</PresentationFormat>
  <Paragraphs>24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Calibri</vt:lpstr>
      <vt:lpstr>Pangolin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"Draw a router icon labeled 'Core Router' in a vibrant RED color."</dc:title>
  <cp:lastModifiedBy>PC</cp:lastModifiedBy>
  <cp:revision>2</cp:revision>
  <dcterms:created xsi:type="dcterms:W3CDTF">2006-08-16T00:00:00Z</dcterms:created>
  <dcterms:modified xsi:type="dcterms:W3CDTF">2026-07-22T06:53:07Z</dcterms:modified>
  <dc:identifier>DAHP7UwCTTw</dc:identifier>
</cp:coreProperties>
</file>